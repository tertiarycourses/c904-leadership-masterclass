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Option A</c:v>
                </c:pt>
              </c:strCache>
            </c:strRef>
          </c:tx>
          <c:cat>
            <c:strRef>
              <c:f>Sheet1!$A$2:$A$4</c:f>
              <c:strCache>
                <c:ptCount val="3"/>
                <c:pt idx="0">
                  <c:v>Quality</c:v>
                </c:pt>
                <c:pt idx="1">
                  <c:v>Cost</c:v>
                </c:pt>
                <c:pt idx="2">
                  <c:v>Resilience</c:v>
                </c:pt>
              </c:strCache>
            </c:strRef>
          </c:cat>
          <c:val>
            <c:numRef>
              <c:f>Sheet1!$B$2:$B$4</c:f>
              <c:numCache>
                <c:formatCode>General</c:formatCode>
                <c:ptCount val="3"/>
                <c:pt idx="0">
                  <c:v>4</c:v>
                </c:pt>
                <c:pt idx="1">
                  <c:v>3</c:v>
                </c:pt>
                <c:pt idx="2">
                  <c:v>4</c:v>
                </c:pt>
              </c:numCache>
            </c:numRef>
          </c:val>
        </c:ser>
        <c:ser>
          <c:idx val="1"/>
          <c:order val="1"/>
          <c:tx>
            <c:strRef>
              <c:f>Sheet1!$C$1</c:f>
              <c:strCache>
                <c:ptCount val="1"/>
                <c:pt idx="0">
                  <c:v>Option B</c:v>
                </c:pt>
              </c:strCache>
            </c:strRef>
          </c:tx>
          <c:cat>
            <c:strRef>
              <c:f>Sheet1!$A$2:$A$4</c:f>
              <c:strCache>
                <c:ptCount val="3"/>
                <c:pt idx="0">
                  <c:v>Quality</c:v>
                </c:pt>
                <c:pt idx="1">
                  <c:v>Cost</c:v>
                </c:pt>
                <c:pt idx="2">
                  <c:v>Resilience</c:v>
                </c:pt>
              </c:strCache>
            </c:strRef>
          </c:cat>
          <c:val>
            <c:numRef>
              <c:f>Sheet1!$C$2:$C$4</c:f>
              <c:numCache>
                <c:formatCode>General</c:formatCode>
                <c:ptCount val="3"/>
                <c:pt idx="0">
                  <c:v>3</c:v>
                </c:pt>
                <c:pt idx="1">
                  <c:v>5</c:v>
                </c:pt>
                <c:pt idx="2">
                  <c:v>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5.0"/>
          <c:min val="0.0"/>
        </c:scaling>
        <c:delete val="0"/>
        <c:axPos val="l"/>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ertiary-infotech-logo.png"/>
          <p:cNvPicPr>
            <a:picLocks noChangeAspect="1"/>
          </p:cNvPicPr>
          <p:nvPr/>
        </p:nvPicPr>
        <p:blipFill>
          <a:blip r:embed="rId2"/>
          <a:stretch>
            <a:fillRect/>
          </a:stretch>
        </p:blipFill>
        <p:spPr>
          <a:xfrm>
            <a:off x="594360" y="457200"/>
            <a:ext cx="594360" cy="594360"/>
          </a:xfrm>
          <a:prstGeom prst="rect">
            <a:avLst/>
          </a:prstGeom>
        </p:spPr>
      </p:pic>
      <p:sp>
        <p:nvSpPr>
          <p:cNvPr id="3" name="TextBox 2"/>
          <p:cNvSpPr txBox="1"/>
          <p:nvPr/>
        </p:nvSpPr>
        <p:spPr>
          <a:xfrm>
            <a:off x="594360" y="1691640"/>
            <a:ext cx="7955279" cy="1508760"/>
          </a:xfrm>
          <a:prstGeom prst="rect">
            <a:avLst/>
          </a:prstGeom>
          <a:noFill/>
        </p:spPr>
        <p:txBody>
          <a:bodyPr wrap="square" lIns="0" rIns="0" tIns="0">
            <a:spAutoFit/>
          </a:bodyPr>
          <a:lstStyle/>
          <a:p>
            <a:pPr algn="l">
              <a:spcAft>
                <a:spcPts val="800"/>
              </a:spcAft>
            </a:pPr>
            <a:r>
              <a:rPr sz="4600" b="1">
                <a:solidFill>
                  <a:srgbClr val="152A3A"/>
                </a:solidFill>
                <a:latin typeface="Aptos"/>
              </a:rPr>
              <a:t>Leadership</a:t>
            </a:r>
          </a:p>
          <a:p>
            <a:pPr algn="l">
              <a:spcAft>
                <a:spcPts val="800"/>
              </a:spcAft>
            </a:pPr>
            <a:r>
              <a:rPr sz="4600" b="1">
                <a:solidFill>
                  <a:srgbClr val="152A3A"/>
                </a:solidFill>
                <a:latin typeface="Aptos"/>
              </a:rPr>
              <a:t>Masterclass</a:t>
            </a:r>
          </a:p>
        </p:txBody>
      </p:sp>
      <p:sp>
        <p:nvSpPr>
          <p:cNvPr id="4" name="TextBox 3"/>
          <p:cNvSpPr txBox="1"/>
          <p:nvPr/>
        </p:nvSpPr>
        <p:spPr>
          <a:xfrm>
            <a:off x="594360" y="3794760"/>
            <a:ext cx="7589520" cy="1005840"/>
          </a:xfrm>
          <a:prstGeom prst="rect">
            <a:avLst/>
          </a:prstGeom>
          <a:noFill/>
        </p:spPr>
        <p:txBody>
          <a:bodyPr wrap="square" lIns="0" rIns="0" tIns="0">
            <a:spAutoFit/>
          </a:bodyPr>
          <a:lstStyle/>
          <a:p>
            <a:pPr algn="l">
              <a:spcAft>
                <a:spcPts val="800"/>
              </a:spcAft>
            </a:pPr>
            <a:r>
              <a:rPr sz="2100" b="0">
                <a:solidFill>
                  <a:srgbClr val="526474"/>
                </a:solidFill>
                <a:latin typeface="Aptos"/>
              </a:rPr>
              <a:t>C904 · 2 days / 15 instructional hours</a:t>
            </a:r>
          </a:p>
          <a:p>
            <a:pPr algn="l">
              <a:spcAft>
                <a:spcPts val="800"/>
              </a:spcAft>
            </a:pPr>
            <a:r>
              <a:rPr sz="2100" b="0">
                <a:solidFill>
                  <a:srgbClr val="526474"/>
                </a:solidFill>
                <a:latin typeface="Aptos"/>
              </a:rPr>
              <a:t>Dr. Alfred Ang · v4.0 · 2 October 2026</a:t>
            </a:r>
          </a:p>
        </p:txBody>
      </p:sp>
      <p:sp>
        <p:nvSpPr>
          <p:cNvPr id="5" name="Oval 4"/>
          <p:cNvSpPr/>
          <p:nvPr/>
        </p:nvSpPr>
        <p:spPr>
          <a:xfrm>
            <a:off x="8321040" y="1554480"/>
            <a:ext cx="3291840" cy="329184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58200" y="2651760"/>
            <a:ext cx="3017520" cy="1005840"/>
          </a:xfrm>
          <a:prstGeom prst="rect">
            <a:avLst/>
          </a:prstGeom>
          <a:noFill/>
        </p:spPr>
        <p:txBody>
          <a:bodyPr wrap="square" lIns="0" rIns="0" tIns="0">
            <a:spAutoFit/>
          </a:bodyPr>
          <a:lstStyle/>
          <a:p>
            <a:pPr algn="ctr">
              <a:spcAft>
                <a:spcPts val="800"/>
              </a:spcAft>
            </a:pPr>
            <a:r>
              <a:rPr sz="3200" b="1">
                <a:solidFill>
                  <a:srgbClr val="FFFFFF"/>
                </a:solidFill>
                <a:latin typeface="Aptos"/>
              </a:rPr>
              <a:t>Lead with</a:t>
            </a:r>
          </a:p>
          <a:p>
            <a:pPr algn="ctr">
              <a:spcAft>
                <a:spcPts val="800"/>
              </a:spcAft>
            </a:pPr>
            <a:r>
              <a:rPr sz="3200" b="1">
                <a:solidFill>
                  <a:srgbClr val="FFFFFF"/>
                </a:solidFill>
                <a:latin typeface="Aptos"/>
              </a:rPr>
              <a:t>clarity</a:t>
            </a:r>
          </a:p>
        </p:txBody>
      </p:sp>
      <p:sp>
        <p:nvSpPr>
          <p:cNvPr id="7" name="TextBox 6"/>
          <p:cNvSpPr txBox="1"/>
          <p:nvPr/>
        </p:nvSpPr>
        <p:spPr>
          <a:xfrm>
            <a:off x="594360" y="5760720"/>
            <a:ext cx="10972800" cy="502920"/>
          </a:xfrm>
          <a:prstGeom prst="rect">
            <a:avLst/>
          </a:prstGeom>
          <a:noFill/>
        </p:spPr>
        <p:txBody>
          <a:bodyPr wrap="square" lIns="0" rIns="0" tIns="0">
            <a:spAutoFit/>
          </a:bodyPr>
          <a:lstStyle/>
          <a:p>
            <a:pPr algn="l">
              <a:spcAft>
                <a:spcPts val="800"/>
              </a:spcAft>
            </a:pPr>
            <a:r>
              <a:rPr sz="1700" b="0">
                <a:solidFill>
                  <a:srgbClr val="087F8C"/>
                </a:solidFill>
                <a:latin typeface="Aptos"/>
              </a:rPr>
              <a:t>https://www.tertiarycourses.com.sg/leadership-masterclass.html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WELCOME</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Welcome and working agreements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Introduce your role, a leadership challenge and one behaviour you want to practise.</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Listen without interruption. Discuss actions and impacts; respect different perspectives.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Use the fictional scenarios for practice. Keep personal workplace details private.</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Give specific peer feedback and record a next action after each exercise.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GET READY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Your trainer and course materials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Dr. Alfred Ang is the trainer named in the original C904 reference deck.</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Open the current course page and the shared course folder. Each activity has its own complete pack.</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Keep the Learner Guide, worksheet and checklist beside the slides. Detailed procedures are in the guide and activity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You'll Learn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a:t>
            </a:r>
          </a:p>
        </p:txBody>
      </p:sp>
      <p:sp>
        <p:nvSpPr>
          <p:cNvPr id="6" name="Rounded Rectangle 5"/>
          <p:cNvSpPr/>
          <p:nvPr/>
        </p:nvSpPr>
        <p:spPr>
          <a:xfrm>
            <a:off x="548640"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Understand</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Observe</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Practise</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Reflect</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Learn a framework, see an example, try a response with peers and choose an action to improve.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WHAT YOU WILL LEARN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Learning outcomes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LO1: Explain leadership and management and choose a behaviour suited to the situation.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LO2: Use active listening and specific feedback to build a shared understanding.</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LO3: Compare options using evidence, uncertainty and ethical constraints.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WHAT YOU WILL LEARN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Learning outcomes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LO4: Create meaningful goals and coach someone toward better performance.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LO5: Resolve a work disagreement by exploring interests and fair options.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06</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LO6: Design an inclusive team charter, delegation agreement and personal development plan.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LEARNING JOURNEY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Two days, six connected topics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Day 1: Lead yourself, communicate and decide. Topics 1–3; Activities 1–6.</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Day 2: Motivate, resolve conflict and build teams. Topics 4–6; Activities 7–12.</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Each day: 450 instructional minutes, 30 minutes of tea breaks and 60 minutes of lunch. Courseware timetable: 09:30–18:30.</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Confirm the current run timing on the registration page. Use the Lesson Plan for the detailed teaching sequence.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Leadership Foundations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a:t>
            </a:r>
          </a:p>
        </p:txBody>
      </p:sp>
      <p:sp>
        <p:nvSpPr>
          <p:cNvPr id="6" name="Oval 5"/>
          <p:cNvSpPr/>
          <p:nvPr/>
        </p:nvSpPr>
        <p:spPr>
          <a:xfrm>
            <a:off x="7955279" y="2011680"/>
            <a:ext cx="3566160" cy="356616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2514600"/>
            <a:ext cx="2926080" cy="1828800"/>
          </a:xfrm>
          <a:prstGeom prst="rect">
            <a:avLst/>
          </a:prstGeom>
          <a:noFill/>
        </p:spPr>
        <p:txBody>
          <a:bodyPr wrap="square" lIns="0" rIns="0" tIns="0">
            <a:spAutoFit/>
          </a:bodyPr>
          <a:lstStyle/>
          <a:p>
            <a:pPr algn="ctr">
              <a:spcAft>
                <a:spcPts val="800"/>
              </a:spcAft>
            </a:pPr>
            <a:r>
              <a:rPr sz="10000" b="1">
                <a:solidFill>
                  <a:srgbClr val="087F8C"/>
                </a:solidFill>
                <a:latin typeface="Aptos"/>
              </a:rPr>
              <a:t>01</a:t>
            </a:r>
          </a:p>
        </p:txBody>
      </p:sp>
      <p:sp>
        <p:nvSpPr>
          <p:cNvPr id="8" name="TextBox 7"/>
          <p:cNvSpPr txBox="1"/>
          <p:nvPr/>
        </p:nvSpPr>
        <p:spPr>
          <a:xfrm>
            <a:off x="594360" y="2331720"/>
            <a:ext cx="6766560" cy="1554480"/>
          </a:xfrm>
          <a:prstGeom prst="rect">
            <a:avLst/>
          </a:prstGeom>
          <a:noFill/>
        </p:spPr>
        <p:txBody>
          <a:bodyPr wrap="square" lIns="0" rIns="0" tIns="0">
            <a:spAutoFit/>
          </a:bodyPr>
          <a:lstStyle/>
          <a:p>
            <a:pPr algn="l">
              <a:spcAft>
                <a:spcPts val="800"/>
              </a:spcAft>
            </a:pPr>
            <a:r>
              <a:rPr sz="2900" b="0">
                <a:solidFill>
                  <a:srgbClr val="152A3A"/>
                </a:solidFill>
                <a:latin typeface="Aptos"/>
              </a:rPr>
              <a:t>Self-awareness, emotional regulation, integrity, resilience and change</a:t>
            </a:r>
          </a:p>
        </p:txBody>
      </p:sp>
      <p:sp>
        <p:nvSpPr>
          <p:cNvPr id="9" name="TextBox 8"/>
          <p:cNvSpPr txBox="1"/>
          <p:nvPr/>
        </p:nvSpPr>
        <p:spPr>
          <a:xfrm>
            <a:off x="594360" y="4754880"/>
            <a:ext cx="6766560" cy="640080"/>
          </a:xfrm>
          <a:prstGeom prst="rect">
            <a:avLst/>
          </a:prstGeom>
          <a:noFill/>
        </p:spPr>
        <p:txBody>
          <a:bodyPr wrap="square" lIns="0" rIns="0" tIns="0">
            <a:spAutoFit/>
          </a:bodyPr>
          <a:lstStyle/>
          <a:p>
            <a:pPr algn="l">
              <a:spcAft>
                <a:spcPts val="800"/>
              </a:spcAft>
            </a:pPr>
            <a:r>
              <a:rPr sz="2000" b="0">
                <a:solidFill>
                  <a:srgbClr val="526474"/>
                </a:solidFill>
                <a:latin typeface="Aptos"/>
              </a:rPr>
              <a:t>Understand → discuss → practise → reflect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Def of Leadership</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Leadership is the process of influencing others to achieve a common goal or objective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Leadership involves guiding, inspiring, and motivating individuals or groups to accomplish a task or mission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Effective leadership can lead to increased productivity, employee engagement, and organizational success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Leadership in Organizations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Leadership is essential for the success of any organization, regardless of its size or industry</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set the tone and direction for the organization, and influence the behavior and performance of their team members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Good leadership can result in increased employee satisfaction, improved customer service, and higher profits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Poor leadership can lead to low morale, high turnover, and a negative work environment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Leadership in Society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Leadership is also important in society, from politics to education to community organizations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Leaders have the power to shape policies, influence public opinion, and create positive change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Effective leadership can lead to a more just and equitable society, while poor leadership can lead to social unrest and inequality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 Impact of Good Leadership on Organizations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Increased productivity and profitability</a:t>
            </a:r>
          </a:p>
        </p:txBody>
      </p:sp>
      <p:cxnSp>
        <p:nvCxnSpPr>
          <p:cNvPr id="11" name="Connector 10"/>
          <p:cNvCxnSpPr/>
          <p:nvPr/>
        </p:nvCxnSpPr>
        <p:spPr>
          <a:xfrm flipV="1">
            <a:off x="6089904" y="3620311"/>
            <a:ext cx="3669906"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59610"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6770"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Improved employee engagement and retention</a:t>
            </a:r>
          </a:p>
        </p:txBody>
      </p:sp>
      <p:cxnSp>
        <p:nvCxnSpPr>
          <p:cNvPr id="14" name="Connector 13"/>
          <p:cNvCxnSpPr/>
          <p:nvPr/>
        </p:nvCxnSpPr>
        <p:spPr>
          <a:xfrm>
            <a:off x="6089904" y="4114800"/>
            <a:ext cx="2268126"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57830"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990"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Higher customer satisfaction</a:t>
            </a:r>
          </a:p>
        </p:txBody>
      </p:sp>
      <p:cxnSp>
        <p:nvCxnSpPr>
          <p:cNvPr id="17" name="Connector 16"/>
          <p:cNvCxnSpPr/>
          <p:nvPr/>
        </p:nvCxnSpPr>
        <p:spPr>
          <a:xfrm flipH="1">
            <a:off x="3821777" y="4114800"/>
            <a:ext cx="2268127"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21577"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8737"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Improved brand reputation</a:t>
            </a:r>
          </a:p>
        </p:txBody>
      </p:sp>
      <p:cxnSp>
        <p:nvCxnSpPr>
          <p:cNvPr id="20" name="Connector 19"/>
          <p:cNvCxnSpPr/>
          <p:nvPr/>
        </p:nvCxnSpPr>
        <p:spPr>
          <a:xfrm flipH="1" flipV="1">
            <a:off x="2419997" y="3620311"/>
            <a:ext cx="3669907"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9797"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957"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Increased innovation and creativity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 Impact of Good Leadership on Individuals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Improved job satisfaction and well-being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Higher levels of motivation and engagement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Greater opportunities for personal and professional growth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 Impact of Good Leadership on Individuals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Increased sense of purpose and fulfillment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Improved work-life balance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 Impact of Bad Leadership on Organizations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Decreased productivity and profitability</a:t>
            </a:r>
          </a:p>
        </p:txBody>
      </p:sp>
      <p:cxnSp>
        <p:nvCxnSpPr>
          <p:cNvPr id="11" name="Connector 10"/>
          <p:cNvCxnSpPr/>
          <p:nvPr/>
        </p:nvCxnSpPr>
        <p:spPr>
          <a:xfrm flipV="1">
            <a:off x="6089904" y="3620311"/>
            <a:ext cx="3669906"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59610"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6770"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High turnover and absenteeism</a:t>
            </a:r>
          </a:p>
        </p:txBody>
      </p:sp>
      <p:cxnSp>
        <p:nvCxnSpPr>
          <p:cNvPr id="14" name="Connector 13"/>
          <p:cNvCxnSpPr/>
          <p:nvPr/>
        </p:nvCxnSpPr>
        <p:spPr>
          <a:xfrm>
            <a:off x="6089904" y="4114800"/>
            <a:ext cx="2268126"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57830"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990"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Low morale and employee dissatisfaction</a:t>
            </a:r>
          </a:p>
        </p:txBody>
      </p:sp>
      <p:cxnSp>
        <p:nvCxnSpPr>
          <p:cNvPr id="17" name="Connector 16"/>
          <p:cNvCxnSpPr/>
          <p:nvPr/>
        </p:nvCxnSpPr>
        <p:spPr>
          <a:xfrm flipH="1">
            <a:off x="3821777" y="4114800"/>
            <a:ext cx="2268127"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21577"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8737"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Poor customer service and damaged reputation</a:t>
            </a:r>
          </a:p>
        </p:txBody>
      </p:sp>
      <p:cxnSp>
        <p:nvCxnSpPr>
          <p:cNvPr id="20" name="Connector 19"/>
          <p:cNvCxnSpPr/>
          <p:nvPr/>
        </p:nvCxnSpPr>
        <p:spPr>
          <a:xfrm flipH="1" flipV="1">
            <a:off x="2419997" y="3620311"/>
            <a:ext cx="3669907"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9797"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957"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Increased risk of legal and ethical issues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 Impact of Bad Leadership on Individuals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Increased stress and burnout</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Low job satisfaction and morale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Negative impact on mental and physical health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 Impact of Bad Leadership on Individuals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Decreased motivation and engagement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Limited opportunities for personal and professional growth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Steve Jobs, Oprah Winfrey, Nelson Mandela, Indra Nooyi, John Wooden.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Jeffrey Skilling, Elizabeth Holmes, Harvey Weinstein, Travis Kalanick, Martin Shkreli.</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Key Traits of Effective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Self-awareness</a:t>
            </a:r>
          </a:p>
        </p:txBody>
      </p:sp>
      <p:cxnSp>
        <p:nvCxnSpPr>
          <p:cNvPr id="11" name="Connector 10"/>
          <p:cNvCxnSpPr/>
          <p:nvPr/>
        </p:nvCxnSpPr>
        <p:spPr>
          <a:xfrm flipV="1">
            <a:off x="6089904" y="3620311"/>
            <a:ext cx="3669906"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59610"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6770"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Emotional intelligence</a:t>
            </a:r>
          </a:p>
        </p:txBody>
      </p:sp>
      <p:cxnSp>
        <p:nvCxnSpPr>
          <p:cNvPr id="14" name="Connector 13"/>
          <p:cNvCxnSpPr/>
          <p:nvPr/>
        </p:nvCxnSpPr>
        <p:spPr>
          <a:xfrm>
            <a:off x="6089904" y="4114800"/>
            <a:ext cx="2268126"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57830"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990"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Integrity and honesty</a:t>
            </a:r>
          </a:p>
        </p:txBody>
      </p:sp>
      <p:cxnSp>
        <p:nvCxnSpPr>
          <p:cNvPr id="17" name="Connector 16"/>
          <p:cNvCxnSpPr/>
          <p:nvPr/>
        </p:nvCxnSpPr>
        <p:spPr>
          <a:xfrm flipH="1">
            <a:off x="3821777" y="4114800"/>
            <a:ext cx="2268127"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21577"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8737"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Resilience and adaptability</a:t>
            </a:r>
          </a:p>
        </p:txBody>
      </p:sp>
      <p:cxnSp>
        <p:nvCxnSpPr>
          <p:cNvPr id="20" name="Connector 19"/>
          <p:cNvCxnSpPr/>
          <p:nvPr/>
        </p:nvCxnSpPr>
        <p:spPr>
          <a:xfrm flipH="1" flipV="1">
            <a:off x="2419997" y="3620311"/>
            <a:ext cx="3669907"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9797"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957"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Vision and creativity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Self-Awareness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Self-awareness is the ability to understand one's own thoughts, feelings, and behaviors.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It involves being conscious of one's strengths, weaknesses, biases, and emotions.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Self-awareness is essential for effective leadership because it helps leaders understand how their actions and decisions impact others.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Self-Awareness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Self-awareness helps leaders understand their own strengths and weaknesses, so they can maximize their potential and minimize their limitations.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It enables leaders to recognize their biases and blind spots, and avoid making decisions based on faulty assumptions or incomplete information.</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Self-awareness helps leaders build better relationships with their team members, by understanding their needs and perspectives.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It enables leaders to manage their emotions and react appropriately in different situations, avoiding unnecessary conflicts or misunderstandings.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Tools and Strategies for Developing Self-Awareness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Journaling: writing down thoughts and feelings can help leaders gain clarity and insights into their own behavior.</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Feedback: soliciting feedback from others can help leaders understand how they are perceived by others and identify areas for improvement.</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Assessments: using personality or leadership assessments can help leaders gain a deeper understanding of their own strengths, weaknesses, and preferences.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Coaching: working with a coach or mentor can help leaders develop greater self-awareness and identify strategies for improvement.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The reference deck uses these public figures as discussion examples: Satya Nadella, Oprah Winfrey has credited her success to her self-awareness and ability to learn from her mistakes., Nelson Mandela was known for his emotional</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intelligence and ability to understand the perspectives of others..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Emotional Intelligence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Emotional intelligence is the ability to recognize, understand, and manage one's own emotions, as well as the emotions of others.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It involves being aware of one's own feelings, and being able to express them appropriately.</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It also involves being able to empathize with others, and understand their perspectives and needs.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Emotional Intelligence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Emotional intelligence is essential for effective leadership because it helps leaders build better relationships with their team members.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It enables leaders to communicate more effectively, by understanding how their words and actions impact others.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Emotional intelligence helps leaders manage conflicts and difficult situations more effectively, by staying calm and focused.</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It also enables leaders to motivate and inspire their team members, by connecting with them on an emotional level.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Tools and Strategies for Developing Emotional Intelligence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Self-reflection: taking time to reflect on one's own emotions and reactions can help develop greater self-awareness.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Active listening: focusing on what others are saying, and trying to understand their perspective, can help develop empathy.</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Mindfulness: practicing mindfulness techniques, such as meditation or deep breathing, can help manage emotions and reduce stress.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Emotional regulation: learning techniques to manage and regulate one's own emotions can help improve emotional intelligence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Barack Obama was known for his emotional intelligence, Mary Barra, Ellen DeGeneres.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Integrity and Honesty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Integrity is the quality of being honest, ethical, and transparent in one's actions and decisions.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Honesty is the quality of being truthful and straightforward in one's communications.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Both integrity and honesty are essential for effective leadership, as they help build trust and credibility with team members and stakeholders.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Integrity and Honesty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30</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demonstrate integrity and honesty are more likely to be trusted and respected by their team members and stakeholders.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They are more likely to inspire loyalty and commitment, as team members feel that they can rely on their leader to act in their best interests.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are honest and transparent are more likely to receive feedback and support from their team members, which can help improve performance and outcomes.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are dishonest or lack integrity risk damaging their reputation and credibility, which can have negative consequences for themselves and their organization.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Warren Buffett, Bill Gates, Mary Barra.</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Demonstrating Integrity and Honesty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Communicate openly and transparently with team members and stakeholders.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Act ethically and in accordance with established values and principles.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Admit mistakes and take responsibility for actions and decisions.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Demonstrating Integrity and Honesty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Hold oneself and others accountable for their actions.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Foster a culture of honesty and transparency within the organization.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Resilience and Adaptability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Resilience is the ability to recover from setbacks, challenges, and adversity.</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Adaptability is the ability to adjust to new situations and environments.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Both resilience and adaptability are essential for effective leadership, as they help leaders navigate through uncertain and unpredictable circumstances.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Resilience and Adaptability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35</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demonstrate resilience and adaptability are better able to handle change and uncertainty.</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They are more likely to inspire confidence and trust in their team members, who look to them for guidance and support during difficult times.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are resilient and adaptable are better able to innovate and find new solutions to complex problems.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They are also more likely to build strong and effective teams, as they can recognize and leverage the strengths of their team members in different situations.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Building Resilience and Adaptability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Develop a growth mindset: view challenges as opportunities for learning and growth.</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Practice self-care: maintain good physical and mental health through exercise, nutrition, and stress-reduction techniques.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Seek out support: build a network of trusted advisors, mentors, and colleagues who can provide guidance and support.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Building Resilience and Adaptability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Embrace change: be open to new ideas and approaches, and view change as an opportunity rather than a threat.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Learn from failure: view failure as a learning experience, and use it as a stepping stone to future success.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Satya Nadella, Angela Merkel, Elon Musk.</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Vision and Creativity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Vision is the ability to see beyond the present and envision a better future.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Creativity is the ability to generate new ideas and approaches, and to think outside the box.</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Both vision and creativity are essential for effective leadership, as they help leaders set direction and inspire innovation.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Vision and Creativity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40</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have a clear and compelling vision are better able to align their team members around a common purpose.</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They are more likely to inspire commitment and engagement, as team members understand the larger context and significance of their work.</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are creative and innovative are better able to identify and pursue new opportunities, and stay ahead of competitors.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They are also more likely to develop new solutions to complex problems, and to inspire their team members to think outside the box.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Developing Vision and Creativity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41</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Set clear goals and priorities</a:t>
            </a:r>
          </a:p>
        </p:txBody>
      </p:sp>
      <p:cxnSp>
        <p:nvCxnSpPr>
          <p:cNvPr id="11" name="Connector 10"/>
          <p:cNvCxnSpPr/>
          <p:nvPr/>
        </p:nvCxnSpPr>
        <p:spPr>
          <a:xfrm flipV="1">
            <a:off x="6089904" y="3620311"/>
            <a:ext cx="3669906"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59610"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6770"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Encourage experimentation</a:t>
            </a:r>
          </a:p>
        </p:txBody>
      </p:sp>
      <p:cxnSp>
        <p:nvCxnSpPr>
          <p:cNvPr id="14" name="Connector 13"/>
          <p:cNvCxnSpPr/>
          <p:nvPr/>
        </p:nvCxnSpPr>
        <p:spPr>
          <a:xfrm>
            <a:off x="6089904" y="4114800"/>
            <a:ext cx="2268126"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57830"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990"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Embrace diversity</a:t>
            </a:r>
          </a:p>
        </p:txBody>
      </p:sp>
      <p:cxnSp>
        <p:nvCxnSpPr>
          <p:cNvPr id="17" name="Connector 16"/>
          <p:cNvCxnSpPr/>
          <p:nvPr/>
        </p:nvCxnSpPr>
        <p:spPr>
          <a:xfrm flipH="1">
            <a:off x="3821777" y="4114800"/>
            <a:ext cx="2268127"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21577"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8737"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Stay informed</a:t>
            </a:r>
          </a:p>
        </p:txBody>
      </p:sp>
      <p:cxnSp>
        <p:nvCxnSpPr>
          <p:cNvPr id="20" name="Connector 19"/>
          <p:cNvCxnSpPr/>
          <p:nvPr/>
        </p:nvCxnSpPr>
        <p:spPr>
          <a:xfrm flipH="1" flipV="1">
            <a:off x="2419997" y="3620311"/>
            <a:ext cx="3669907"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9797"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957"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Challenge assumptions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Jeff Bezos, Malala Yousafzai, Steve Jobs.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Key Skills of Effective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43</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Communication: the ability to convey ideas and information clearly and persuasively</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Decision-making: the ability to make informed and timely decisions based on available information</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Delegation: the ability to assign tasks and responsibilities to team members in a way that maximizes their strengths and skills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Motivation: the ability to inspire and motivate team members to achieve their goals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Communication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Communication is the process of sharing information, ideas, and feelings with others.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It involves both verbal and nonverbal forms of expression, and is essential for effective leadership.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Communication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45</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communicate effectively are better able to establish trust and credibility with their team members and stakeholders.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They are more likely to inspire motivation and engagement, by clearly communicating the organization's goals and priorities.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communicate well are better able to manage conflicts and difficult situations, by facilitating open and honest dialogue.</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Effective communication is also essential for building and maintaining relationships with clients, customers, and other external stakeholders.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Effective Communication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Active listening: focus on what others are saying, and seek to understand their perspective.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Clarity and concision: communicate in a clear and concise manner, using simple language and avoiding jargon.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Nonverbal communication: be aware of nonverbal cues, such as body language and tone of voice, and use them to reinforce the intended message.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Effective Communication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Feedback: seek out feedback from others, and be open to constructive criticism.</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Adaptability: be adaptable and flexible in communication styles, to accommodate different audiences and contexts.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Trust is Important for Communication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48</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Reduce an Adversarial Mindset</a:t>
            </a:r>
          </a:p>
        </p:txBody>
      </p:sp>
      <p:cxnSp>
        <p:nvCxnSpPr>
          <p:cNvPr id="11" name="Connector 10"/>
          <p:cNvCxnSpPr/>
          <p:nvPr/>
        </p:nvCxnSpPr>
        <p:spPr>
          <a:xfrm flipV="1">
            <a:off x="6089904" y="3620311"/>
            <a:ext cx="3669906"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59610"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6770"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Reduce Conflict</a:t>
            </a:r>
          </a:p>
        </p:txBody>
      </p:sp>
      <p:cxnSp>
        <p:nvCxnSpPr>
          <p:cNvPr id="14" name="Connector 13"/>
          <p:cNvCxnSpPr/>
          <p:nvPr/>
        </p:nvCxnSpPr>
        <p:spPr>
          <a:xfrm>
            <a:off x="6089904" y="4114800"/>
            <a:ext cx="2268126"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57830"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990"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Increase Cooperation</a:t>
            </a:r>
          </a:p>
        </p:txBody>
      </p:sp>
      <p:cxnSp>
        <p:nvCxnSpPr>
          <p:cNvPr id="17" name="Connector 16"/>
          <p:cNvCxnSpPr/>
          <p:nvPr/>
        </p:nvCxnSpPr>
        <p:spPr>
          <a:xfrm flipH="1">
            <a:off x="3821777" y="4114800"/>
            <a:ext cx="2268127"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21577"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8737"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Increase Teamwork</a:t>
            </a:r>
          </a:p>
        </p:txBody>
      </p:sp>
      <p:cxnSp>
        <p:nvCxnSpPr>
          <p:cNvPr id="20" name="Connector 19"/>
          <p:cNvCxnSpPr/>
          <p:nvPr/>
        </p:nvCxnSpPr>
        <p:spPr>
          <a:xfrm flipH="1" flipV="1">
            <a:off x="2419997" y="3620311"/>
            <a:ext cx="3669907"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9797"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957"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Develop Trust and Understanding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Drive fear out of the organisation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49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introduces this idea through W. Edwards Deming.</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Fear of blame can stop people surfacing problems. Invite concerns and respond constructively while retaining accountability for actions and follow-through.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Indra Nooyi, Jacinda Ardern, Tim Cook.</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Decision-Making</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Decision-making is the process of making choices between different alternatives.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It involves weighing the pros and cons of different options and selecting the best course of action.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Decision-Making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52</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Effective decision-making is essential for effective leadership, as it helps leaders steer their organizations towards success.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make good decisions are more likely to inspire confidence and trust in their team members and stakeholders.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Good decision-making also helps leaders manage risks and opportunities effectively, by identifying and prioritizing the most important issues.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Effective decision-making is also essential for driving innovation and growth, by identifying and pursuing new opportunities and strategies.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Effective Decision-Making</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Gather information: collect and analyze relevant data and information to inform the decision-making process.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Consider alternatives: generate multiple options and evaluate the pros and cons of each.</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Involve others: seek input and feedback from team members and stakeholders to gain diverse perspectives and identify blind spots.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Effective Decision-Making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Evaluate risks and benefits: assess the potential risks and benefits of different options, and consider the impact on stakeholders.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Use experience to generate hypotheses, then test them against evidence, stakeholder input and explicit constraints.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Elon Musk, Mary Barra, Bill Gates.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Delegation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56</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Delegation is the process of assigning tasks and responsibilities to others.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Effective delegation involves identifying the right tasks to delegate, selecting the right people for the task, and providing the necessary guidance and support.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Delegation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57</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Effective delegation is essential for effective leadership, as it helps leaders leverage the skills and expertise of their team members.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Leaders who delegate effectively are able to focus on higher-level tasks and strategic priorities, and avoid getting bogged down in details.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Delegation also helps develop the skills and capabilities of team members, by providing opportunities for growth and development.</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Effective delegation is also essential for building trust and collaboration within the team, by demonstrating trust and respect for team members' abilities and expertise.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Effective Delegation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Identify the right tasks: delegate tasks that are appropriate for the skills and expertise of team members.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Select the right people: assign tasks to team members who have the necessary skills and expertise, and who are interested in the task.</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Provide guidance and support: communicate clear expectations and provide the necessary guidance and resources to complete the task.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Effective Delegation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59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Set deadlines: establish clear deadlines and expectations for completion.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Monitor progress: check in regularly to monitor progress and provide feedback and support as needed.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Jeff Bezos, Mary Barra, Sheryl Sandberg.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Motivation is the internal drive or desire to achieve a goal or perform a task.</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It is essential for effective leadership, as it helps leaders inspire and engage their team members.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Motivation for Leaders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62</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Effective leaders are able to motivate and inspire their team members, by creating a sense of purpose and meaning in their work.</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Motivated team members are more likely to be engaged and committed, and to go above and beyond to achieve their goals.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Leaders who are able to motivate and inspire their team members are also more likely to build a strong and cohesive team culture, where everyone is aligned around a common purpose.</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Motivation is also essential for driving innovation and creativity, by encouraging team members to think outside the box and pursue new opportunities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Motivating Team Members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63</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Establish a sense of purpose</a:t>
            </a:r>
          </a:p>
        </p:txBody>
      </p:sp>
      <p:cxnSp>
        <p:nvCxnSpPr>
          <p:cNvPr id="11" name="Connector 10"/>
          <p:cNvCxnSpPr/>
          <p:nvPr/>
        </p:nvCxnSpPr>
        <p:spPr>
          <a:xfrm flipV="1">
            <a:off x="6089904" y="3620311"/>
            <a:ext cx="3669906"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59610"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6770"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Provide recognition and rewards</a:t>
            </a:r>
          </a:p>
        </p:txBody>
      </p:sp>
      <p:cxnSp>
        <p:nvCxnSpPr>
          <p:cNvPr id="14" name="Connector 13"/>
          <p:cNvCxnSpPr/>
          <p:nvPr/>
        </p:nvCxnSpPr>
        <p:spPr>
          <a:xfrm>
            <a:off x="6089904" y="4114800"/>
            <a:ext cx="2268126"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57830"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990"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Encourage autonomy</a:t>
            </a:r>
          </a:p>
        </p:txBody>
      </p:sp>
      <p:cxnSp>
        <p:nvCxnSpPr>
          <p:cNvPr id="17" name="Connector 16"/>
          <p:cNvCxnSpPr/>
          <p:nvPr/>
        </p:nvCxnSpPr>
        <p:spPr>
          <a:xfrm flipH="1">
            <a:off x="3821777" y="4114800"/>
            <a:ext cx="2268127"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21577"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8737"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Foster a positive work environment</a:t>
            </a:r>
          </a:p>
        </p:txBody>
      </p:sp>
      <p:cxnSp>
        <p:nvCxnSpPr>
          <p:cNvPr id="20" name="Connector 19"/>
          <p:cNvCxnSpPr/>
          <p:nvPr/>
        </p:nvCxnSpPr>
        <p:spPr>
          <a:xfrm flipH="1" flipV="1">
            <a:off x="2419997" y="3620311"/>
            <a:ext cx="3669907"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9797"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957"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Lead by example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Discuss leadership through observable actions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uses these public figures as discussion examples: Oprah Winfrey, Tony Hsieh, Simon Sinek.</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Discuss a specific, dated action and its effect on stakeholders. A public reputation is not evidence that every leadership behaviour is effective.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Separate the observed action, interpretation and outcome. Seek primary evidence before making claims about a person or organisation.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 Difference Between Leaders and Managers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Leadership provides purpose, direction and commitment; management organises plans, resources and delivery.</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Both functions are necessary. One person can lead and manage at different moments. Neither role is inherently superior.</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 team leader may invite ideas for a new service, then manage its staffing, budget and quality checks.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Change is inevitable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66</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Changing customer needs, technology and working conditions require teams to adapt.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Leadership gives people a shared purpose, room to raise concerns and a clear way to learn during change.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 Ultimate Test of Leadership</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Leader is a Change Agent</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Why People Resist Change?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How to Create a Positive Change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Why People Resist Change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68</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Use to the Job</a:t>
            </a:r>
          </a:p>
        </p:txBody>
      </p:sp>
      <p:cxnSp>
        <p:nvCxnSpPr>
          <p:cNvPr id="11" name="Connector 10"/>
          <p:cNvCxnSpPr/>
          <p:nvPr/>
        </p:nvCxnSpPr>
        <p:spPr>
          <a:xfrm flipV="1">
            <a:off x="6089904" y="3620311"/>
            <a:ext cx="3669906"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59610"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6770"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Habits are Formed</a:t>
            </a:r>
          </a:p>
        </p:txBody>
      </p:sp>
      <p:cxnSp>
        <p:nvCxnSpPr>
          <p:cNvPr id="14" name="Connector 13"/>
          <p:cNvCxnSpPr/>
          <p:nvPr/>
        </p:nvCxnSpPr>
        <p:spPr>
          <a:xfrm>
            <a:off x="6089904" y="4114800"/>
            <a:ext cx="2268126"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57830"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990"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May Create More Work</a:t>
            </a:r>
          </a:p>
        </p:txBody>
      </p:sp>
      <p:cxnSp>
        <p:nvCxnSpPr>
          <p:cNvPr id="17" name="Connector 16"/>
          <p:cNvCxnSpPr/>
          <p:nvPr/>
        </p:nvCxnSpPr>
        <p:spPr>
          <a:xfrm flipH="1">
            <a:off x="3821777" y="4114800"/>
            <a:ext cx="2268127"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21577"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8737"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Focusing on the Negative</a:t>
            </a:r>
          </a:p>
        </p:txBody>
      </p:sp>
      <p:cxnSp>
        <p:nvCxnSpPr>
          <p:cNvPr id="20" name="Connector 19"/>
          <p:cNvCxnSpPr/>
          <p:nvPr/>
        </p:nvCxnSpPr>
        <p:spPr>
          <a:xfrm flipH="1" flipV="1">
            <a:off x="2419997" y="3620311"/>
            <a:ext cx="3669907"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9797"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957"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Ego - It’s Not Their Idea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Why People Resist Change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69</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They Don’t Understand Why the Change</a:t>
            </a:r>
          </a:p>
        </p:txBody>
      </p:sp>
      <p:cxnSp>
        <p:nvCxnSpPr>
          <p:cNvPr id="11" name="Connector 10"/>
          <p:cNvCxnSpPr/>
          <p:nvPr/>
        </p:nvCxnSpPr>
        <p:spPr>
          <a:xfrm flipV="1">
            <a:off x="6089904" y="3620311"/>
            <a:ext cx="3669906"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59610"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6770"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It’s Not Self-Initiated</a:t>
            </a:r>
          </a:p>
        </p:txBody>
      </p:sp>
      <p:cxnSp>
        <p:nvCxnSpPr>
          <p:cNvPr id="14" name="Connector 13"/>
          <p:cNvCxnSpPr/>
          <p:nvPr/>
        </p:nvCxnSpPr>
        <p:spPr>
          <a:xfrm>
            <a:off x="6089904" y="4114800"/>
            <a:ext cx="2268126"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57830"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990"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Routine Is Disrupted</a:t>
            </a:r>
          </a:p>
        </p:txBody>
      </p:sp>
      <p:cxnSp>
        <p:nvCxnSpPr>
          <p:cNvPr id="17" name="Connector 16"/>
          <p:cNvCxnSpPr/>
          <p:nvPr/>
        </p:nvCxnSpPr>
        <p:spPr>
          <a:xfrm flipH="1">
            <a:off x="3821777" y="4114800"/>
            <a:ext cx="2268127" cy="129458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21577" y="4906468"/>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8737" y="5016196"/>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Fear of the Unknown</a:t>
            </a:r>
          </a:p>
        </p:txBody>
      </p:sp>
      <p:cxnSp>
        <p:nvCxnSpPr>
          <p:cNvPr id="20" name="Connector 19"/>
          <p:cNvCxnSpPr/>
          <p:nvPr/>
        </p:nvCxnSpPr>
        <p:spPr>
          <a:xfrm flipH="1" flipV="1">
            <a:off x="2419997" y="3620311"/>
            <a:ext cx="3669907" cy="494489"/>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9797" y="3117391"/>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957" y="3227119"/>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The Purpose is Unclear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Why People Resist Change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70</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Fear of Failure</a:t>
            </a:r>
          </a:p>
        </p:txBody>
      </p:sp>
      <p:cxnSp>
        <p:nvCxnSpPr>
          <p:cNvPr id="11" name="Connector 10"/>
          <p:cNvCxnSpPr/>
          <p:nvPr/>
        </p:nvCxnSpPr>
        <p:spPr>
          <a:xfrm>
            <a:off x="6089904" y="4114800"/>
            <a:ext cx="385876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48471"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The Advantage is Unclear</a:t>
            </a:r>
          </a:p>
        </p:txBody>
      </p:sp>
      <p:cxnSp>
        <p:nvCxnSpPr>
          <p:cNvPr id="14" name="Connector 13"/>
          <p:cNvCxnSpPr/>
          <p:nvPr/>
        </p:nvCxnSpPr>
        <p:spPr>
          <a:xfrm>
            <a:off x="6089904" y="41148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9704" y="52120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53218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It May be a Personal Loss</a:t>
            </a:r>
          </a:p>
        </p:txBody>
      </p:sp>
      <p:cxnSp>
        <p:nvCxnSpPr>
          <p:cNvPr id="17" name="Connector 16"/>
          <p:cNvCxnSpPr/>
          <p:nvPr/>
        </p:nvCxnSpPr>
        <p:spPr>
          <a:xfrm flipH="1">
            <a:off x="2231136" y="4114800"/>
            <a:ext cx="385876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Tradition is a High Priority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Why People Resist Change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71</a:t>
            </a:r>
          </a:p>
        </p:txBody>
      </p:sp>
      <p:sp>
        <p:nvSpPr>
          <p:cNvPr id="6" name="TextBox 5"/>
          <p:cNvSpPr txBox="1"/>
          <p:nvPr/>
        </p:nvSpPr>
        <p:spPr>
          <a:xfrm>
            <a:off x="685800" y="2331720"/>
            <a:ext cx="7498079" cy="2377440"/>
          </a:xfrm>
          <a:prstGeom prst="rect">
            <a:avLst/>
          </a:prstGeom>
          <a:noFill/>
        </p:spPr>
        <p:txBody>
          <a:bodyPr wrap="square" lIns="0" rIns="0" tIns="0">
            <a:spAutoFit/>
          </a:bodyPr>
          <a:lstStyle/>
          <a:p>
            <a:pPr algn="l">
              <a:spcAft>
                <a:spcPts val="800"/>
              </a:spcAft>
            </a:pPr>
            <a:r>
              <a:rPr sz="3200" b="1">
                <a:solidFill>
                  <a:srgbClr val="087F8C"/>
                </a:solidFill>
                <a:latin typeface="Aptos"/>
              </a:rPr>
              <a:t>“People resist change only when it involves the possibility of loss.”  Ronald Heifetz, Center on Public Leadership, Harvard’s Kennedy School of Government</a:t>
            </a:r>
          </a:p>
        </p:txBody>
      </p:sp>
      <p:sp>
        <p:nvSpPr>
          <p:cNvPr id="7" name="Oval 6"/>
          <p:cNvSpPr/>
          <p:nvPr/>
        </p:nvSpPr>
        <p:spPr>
          <a:xfrm>
            <a:off x="8778240" y="2240280"/>
            <a:ext cx="2240280" cy="224028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9372600" y="2834640"/>
            <a:ext cx="1005840" cy="1005840"/>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349240"/>
            <a:ext cx="9784080" cy="548640"/>
          </a:xfrm>
          <a:prstGeom prst="rect">
            <a:avLst/>
          </a:prstGeom>
          <a:noFill/>
        </p:spPr>
        <p:txBody>
          <a:bodyPr wrap="square" lIns="0" rIns="0" tIns="0">
            <a:spAutoFit/>
          </a:bodyPr>
          <a:lstStyle/>
          <a:p>
            <a:pPr algn="l">
              <a:spcAft>
                <a:spcPts val="800"/>
              </a:spcAft>
            </a:pPr>
            <a:r>
              <a:rPr sz="1800" b="0">
                <a:solidFill>
                  <a:srgbClr val="526474"/>
                </a:solidFill>
                <a:latin typeface="Aptos"/>
              </a:rPr>
              <a:t>Discuss the behaviour and its effect in a real work situation.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Create a Positive Climate for Change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72</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Develop Trust</a:t>
            </a:r>
          </a:p>
        </p:txBody>
      </p:sp>
      <p:cxnSp>
        <p:nvCxnSpPr>
          <p:cNvPr id="11" name="Connector 10"/>
          <p:cNvCxnSpPr/>
          <p:nvPr/>
        </p:nvCxnSpPr>
        <p:spPr>
          <a:xfrm flipV="1">
            <a:off x="6089904" y="3314700"/>
            <a:ext cx="3341791" cy="8001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831495" y="28117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68655" y="29215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Make Change a Priority</a:t>
            </a:r>
          </a:p>
        </p:txBody>
      </p:sp>
      <p:cxnSp>
        <p:nvCxnSpPr>
          <p:cNvPr id="14" name="Connector 13"/>
          <p:cNvCxnSpPr/>
          <p:nvPr/>
        </p:nvCxnSpPr>
        <p:spPr>
          <a:xfrm>
            <a:off x="6089904" y="4114800"/>
            <a:ext cx="3341791" cy="8001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831495" y="44119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68655" y="45217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Understand the History of the Organization</a:t>
            </a:r>
          </a:p>
        </p:txBody>
      </p:sp>
      <p:cxnSp>
        <p:nvCxnSpPr>
          <p:cNvPr id="17" name="Connector 16"/>
          <p:cNvCxnSpPr/>
          <p:nvPr/>
        </p:nvCxnSpPr>
        <p:spPr>
          <a:xfrm>
            <a:off x="6089904" y="41148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89704" y="52120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6864" y="53218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Influence Key Players</a:t>
            </a:r>
          </a:p>
        </p:txBody>
      </p:sp>
      <p:cxnSp>
        <p:nvCxnSpPr>
          <p:cNvPr id="20" name="Connector 19"/>
          <p:cNvCxnSpPr/>
          <p:nvPr/>
        </p:nvCxnSpPr>
        <p:spPr>
          <a:xfrm flipH="1">
            <a:off x="2748112" y="4114800"/>
            <a:ext cx="3341792" cy="8001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147912" y="44119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5072" y="45217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Exhibit a Positive Attitude</a:t>
            </a:r>
          </a:p>
        </p:txBody>
      </p:sp>
      <p:cxnSp>
        <p:nvCxnSpPr>
          <p:cNvPr id="23" name="Connector 22"/>
          <p:cNvCxnSpPr/>
          <p:nvPr/>
        </p:nvCxnSpPr>
        <p:spPr>
          <a:xfrm flipH="1" flipV="1">
            <a:off x="2748112" y="3314700"/>
            <a:ext cx="3341792" cy="8001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147912" y="28117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5072" y="29215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Open Communications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Develop a Mission Statement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73</a:t>
            </a:r>
          </a:p>
        </p:txBody>
      </p:sp>
      <p:sp>
        <p:nvSpPr>
          <p:cNvPr id="6" name="Oval 5"/>
          <p:cNvSpPr/>
          <p:nvPr/>
        </p:nvSpPr>
        <p:spPr>
          <a:xfrm>
            <a:off x="5129784" y="3520440"/>
            <a:ext cx="1920240" cy="11887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Expand your perspective.</a:t>
            </a:r>
          </a:p>
        </p:txBody>
      </p:sp>
      <p:cxnSp>
        <p:nvCxnSpPr>
          <p:cNvPr id="11" name="Connector 10"/>
          <p:cNvCxnSpPr/>
          <p:nvPr/>
        </p:nvCxnSpPr>
        <p:spPr>
          <a:xfrm>
            <a:off x="6089904" y="4114800"/>
            <a:ext cx="385876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48471"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Clarify your values and principles.</a:t>
            </a:r>
          </a:p>
        </p:txBody>
      </p:sp>
      <p:cxnSp>
        <p:nvCxnSpPr>
          <p:cNvPr id="14" name="Connector 13"/>
          <p:cNvCxnSpPr/>
          <p:nvPr/>
        </p:nvCxnSpPr>
        <p:spPr>
          <a:xfrm>
            <a:off x="6089904" y="4114800"/>
            <a:ext cx="0" cy="160020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9704" y="52120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53218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Create a vision that will motivate.</a:t>
            </a:r>
          </a:p>
        </p:txBody>
      </p:sp>
      <p:cxnSp>
        <p:nvCxnSpPr>
          <p:cNvPr id="17" name="Connector 16"/>
          <p:cNvCxnSpPr/>
          <p:nvPr/>
        </p:nvCxnSpPr>
        <p:spPr>
          <a:xfrm flipH="1">
            <a:off x="2231136" y="4114800"/>
            <a:ext cx="385876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Always use participation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Develop a Mission Statement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It provides direction and challenge.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06</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Publish it, in a version that can be remember.</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07</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Revise it every so often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01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 of Mission Statement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75</a:t>
            </a:r>
          </a:p>
        </p:txBody>
      </p:sp>
      <p:sp>
        <p:nvSpPr>
          <p:cNvPr id="6" name="TextBox 5"/>
          <p:cNvSpPr txBox="1"/>
          <p:nvPr/>
        </p:nvSpPr>
        <p:spPr>
          <a:xfrm>
            <a:off x="685800" y="2331720"/>
            <a:ext cx="7498079" cy="2377440"/>
          </a:xfrm>
          <a:prstGeom prst="rect">
            <a:avLst/>
          </a:prstGeom>
          <a:noFill/>
        </p:spPr>
        <p:txBody>
          <a:bodyPr wrap="square" lIns="0" rIns="0" tIns="0">
            <a:spAutoFit/>
          </a:bodyPr>
          <a:lstStyle/>
          <a:p>
            <a:pPr algn="l">
              <a:spcAft>
                <a:spcPts val="800"/>
              </a:spcAft>
            </a:pPr>
            <a:r>
              <a:rPr sz="3200" b="1">
                <a:solidFill>
                  <a:srgbClr val="087F8C"/>
                </a:solidFill>
                <a:latin typeface="Aptos"/>
              </a:rPr>
              <a:t>Mission: “To put a man on the moon by the end of the decade" - John Kennedy</a:t>
            </a:r>
          </a:p>
        </p:txBody>
      </p:sp>
      <p:sp>
        <p:nvSpPr>
          <p:cNvPr id="7" name="Oval 6"/>
          <p:cNvSpPr/>
          <p:nvPr/>
        </p:nvSpPr>
        <p:spPr>
          <a:xfrm>
            <a:off x="8778240" y="2240280"/>
            <a:ext cx="2240280" cy="224028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9372600" y="2834640"/>
            <a:ext cx="1005840" cy="1005840"/>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349240"/>
            <a:ext cx="9784080" cy="548640"/>
          </a:xfrm>
          <a:prstGeom prst="rect">
            <a:avLst/>
          </a:prstGeom>
          <a:noFill/>
        </p:spPr>
        <p:txBody>
          <a:bodyPr wrap="square" lIns="0" rIns="0" tIns="0">
            <a:spAutoFit/>
          </a:bodyPr>
          <a:lstStyle/>
          <a:p>
            <a:pPr algn="l">
              <a:spcAft>
                <a:spcPts val="800"/>
              </a:spcAft>
            </a:pPr>
            <a:r>
              <a:rPr sz="1800" b="0">
                <a:solidFill>
                  <a:srgbClr val="526474"/>
                </a:solidFill>
                <a:latin typeface="Aptos"/>
              </a:rPr>
              <a:t>Discuss the behaviour and its effect in a real work situation.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Leadership is a learnable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76</a:t>
            </a:r>
          </a:p>
        </p:txBody>
      </p:sp>
      <p:sp>
        <p:nvSpPr>
          <p:cNvPr id="6" name="Rounded Rectangle 5"/>
          <p:cNvSpPr/>
          <p:nvPr/>
        </p:nvSpPr>
        <p:spPr>
          <a:xfrm>
            <a:off x="548640"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Observe a behaviour</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Try a small change</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Request specific feedback</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Reflect and repeat</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Leadership means helping people make progress toward a shared purpose. A title gives authority, but influence also depends on consistent behaviour and relationships.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WORKED EXAMPLE · SCU DEVELOPMENT</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Leadership is a learnable practice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Develop one observable behaviour at a time: for example, ask two clarifying questions before responding in a meeting. Record what happened and ask a colleague what helped. This is more useful than a vague promise to become inspiring.</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The learning loop combines experience, feedback and reflection; it is not a personality test. In the course scenario, a manager who routinely interrupts begins by inviting the quieter analyst to speak first.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Choose a style for the situation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78</a:t>
            </a:r>
          </a:p>
        </p:txBody>
      </p:sp>
      <p:sp>
        <p:nvSpPr>
          <p:cNvPr id="6" name="Rounded Rectangle 5"/>
          <p:cNvSpPr/>
          <p:nvPr/>
        </p:nvSpPr>
        <p:spPr>
          <a:xfrm>
            <a:off x="548640"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Urgency</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Task familiarity</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Decision stakes</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Team capability</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Directive behaviour can help when time is short and an unfamiliar task has a clear safe method. Participation can improve understanding when the team holds different information.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WORKED EXAMPLE · IOD</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Choose a style for the situation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79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Coaching helps someone develop judgement; delegation gives ownership when capability and boundaries are clear. Treat styles as choices rather than fixed identities.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An urgent service recovery may need a clear coordinator, followed later by a participative review of causes. Avoid using urgency as a permanent reason to exclude input.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Ask what the task needs, what the person can do, and how much uncertainty the decision carries.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Self-awareness into ethical action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80</a:t>
            </a:r>
          </a:p>
        </p:txBody>
      </p:sp>
      <p:sp>
        <p:nvSpPr>
          <p:cNvPr id="6" name="Rounded Rectangle 5"/>
          <p:cNvSpPr/>
          <p:nvPr/>
        </p:nvSpPr>
        <p:spPr>
          <a:xfrm>
            <a:off x="548640"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Trigger</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Emotion</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Interpretation</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Chosen response</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Self-awareness involves noticing the gap between intention and impact. Emotional awareness helps a leader pause before responding; integrity requires the chosen response to match stated values.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WORKED EXAMPLE · SCU SKILLS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Self-awareness into ethical action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At Meridian Services, a late report triggers a manager's fear of embarrassment. Instead of accusing the analyst of not caring, the manager names the missed deadline, asks about obstacles and agrees a recovery plan.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The leader can still uphold a standard while regulating tone. Reflection notes should describe observed events, not diagnose a colleague. Personal strengths are useful starting points but do not excuse harmful behaviour.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01: Leadership Behaviour Snapshot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82</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observe impact and select one improvement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087F8C"/>
                </a:solidFill>
                <a:latin typeface="Aptos"/>
              </a:rPr>
              <a:t>Finished result: A completed leadership behaviour snapshot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087F8C"/>
                </a:solidFill>
                <a:latin typeface="Aptos"/>
              </a:rPr>
              <a:t>Apply the concepts</a:t>
            </a:r>
          </a:p>
          <a:p>
            <a:pPr algn="l">
              <a:spcAft>
                <a:spcPts val="800"/>
              </a:spcAft>
            </a:pPr>
            <a:r>
              <a:rPr sz="2400" b="1">
                <a:solidFill>
                  <a:srgbClr val="087F8C"/>
                </a:solidFill>
                <a:latin typeface="Aptos"/>
              </a:rPr>
              <a:t>Compare perspectives</a:t>
            </a:r>
          </a:p>
          <a:p>
            <a:pPr algn="l">
              <a:spcAft>
                <a:spcPts val="800"/>
              </a:spcAft>
            </a:pPr>
            <a:r>
              <a:rPr sz="2400" b="1">
                <a:solidFill>
                  <a:srgbClr val="087F8C"/>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OPTIONAL DISCUSSION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Original practice context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"Creating a Collaborative Environment: A Leadership Roleplay"</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Scene: A team meeting at XYZ Corporation. The team is composed of members with diverse backgrounds and skill sets. They are currently working on a crucial project with tight deadlines.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team leader, Sarah, calls for a meeting to discuss progress and address potential roadblocks.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02: Mission and Change Roleplay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84</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select a style and create shared purpose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087F8C"/>
                </a:solidFill>
                <a:latin typeface="Aptos"/>
              </a:rPr>
              <a:t>Finished result: A completed mission and change roleplay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087F8C"/>
                </a:solidFill>
                <a:latin typeface="Aptos"/>
              </a:rPr>
              <a:t>Apply the concepts</a:t>
            </a:r>
          </a:p>
          <a:p>
            <a:pPr algn="l">
              <a:spcAft>
                <a:spcPts val="800"/>
              </a:spcAft>
            </a:pPr>
            <a:r>
              <a:rPr sz="2400" b="1">
                <a:solidFill>
                  <a:srgbClr val="087F8C"/>
                </a:solidFill>
                <a:latin typeface="Aptos"/>
              </a:rPr>
              <a:t>Compare perspectives</a:t>
            </a:r>
          </a:p>
          <a:p>
            <a:pPr algn="l">
              <a:spcAft>
                <a:spcPts val="800"/>
              </a:spcAft>
            </a:pPr>
            <a:r>
              <a:rPr sz="2400" b="1">
                <a:solidFill>
                  <a:srgbClr val="087F8C"/>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TOPIC RECAP</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Recap: Leadership Foundations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LO1: Explain leadership and management and choose a behaviour suited to the situation.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Explain your choice with evidence, name a trade-off and record a review point.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Which behaviour will you keep practising after today?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Communication and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86</a:t>
            </a:r>
          </a:p>
        </p:txBody>
      </p:sp>
      <p:sp>
        <p:nvSpPr>
          <p:cNvPr id="6" name="Oval 5"/>
          <p:cNvSpPr/>
          <p:nvPr/>
        </p:nvSpPr>
        <p:spPr>
          <a:xfrm>
            <a:off x="7955279" y="2011680"/>
            <a:ext cx="3566160" cy="356616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2514600"/>
            <a:ext cx="2926080" cy="1828800"/>
          </a:xfrm>
          <a:prstGeom prst="rect">
            <a:avLst/>
          </a:prstGeom>
          <a:noFill/>
        </p:spPr>
        <p:txBody>
          <a:bodyPr wrap="square" lIns="0" rIns="0" tIns="0">
            <a:spAutoFit/>
          </a:bodyPr>
          <a:lstStyle/>
          <a:p>
            <a:pPr algn="ctr">
              <a:spcAft>
                <a:spcPts val="800"/>
              </a:spcAft>
            </a:pPr>
            <a:r>
              <a:rPr sz="10000" b="1">
                <a:solidFill>
                  <a:srgbClr val="245A81"/>
                </a:solidFill>
                <a:latin typeface="Aptos"/>
              </a:rPr>
              <a:t>02</a:t>
            </a:r>
          </a:p>
        </p:txBody>
      </p:sp>
      <p:sp>
        <p:nvSpPr>
          <p:cNvPr id="8" name="TextBox 7"/>
          <p:cNvSpPr txBox="1"/>
          <p:nvPr/>
        </p:nvSpPr>
        <p:spPr>
          <a:xfrm>
            <a:off x="594360" y="2331720"/>
            <a:ext cx="6766560" cy="1554480"/>
          </a:xfrm>
          <a:prstGeom prst="rect">
            <a:avLst/>
          </a:prstGeom>
          <a:noFill/>
        </p:spPr>
        <p:txBody>
          <a:bodyPr wrap="square" lIns="0" rIns="0" tIns="0">
            <a:spAutoFit/>
          </a:bodyPr>
          <a:lstStyle/>
          <a:p>
            <a:pPr algn="l">
              <a:spcAft>
                <a:spcPts val="800"/>
              </a:spcAft>
            </a:pPr>
            <a:r>
              <a:rPr sz="2900" b="0">
                <a:solidFill>
                  <a:srgbClr val="152A3A"/>
                </a:solidFill>
                <a:latin typeface="Aptos"/>
              </a:rPr>
              <a:t>Active listening, clear messages, feedback and cross-team working</a:t>
            </a:r>
          </a:p>
        </p:txBody>
      </p:sp>
      <p:sp>
        <p:nvSpPr>
          <p:cNvPr id="9" name="TextBox 8"/>
          <p:cNvSpPr txBox="1"/>
          <p:nvPr/>
        </p:nvSpPr>
        <p:spPr>
          <a:xfrm>
            <a:off x="594360" y="4754880"/>
            <a:ext cx="6766560" cy="640080"/>
          </a:xfrm>
          <a:prstGeom prst="rect">
            <a:avLst/>
          </a:prstGeom>
          <a:noFill/>
        </p:spPr>
        <p:txBody>
          <a:bodyPr wrap="square" lIns="0" rIns="0" tIns="0">
            <a:spAutoFit/>
          </a:bodyPr>
          <a:lstStyle/>
          <a:p>
            <a:pPr algn="l">
              <a:spcAft>
                <a:spcPts val="800"/>
              </a:spcAft>
            </a:pPr>
            <a:r>
              <a:rPr sz="2000" b="0">
                <a:solidFill>
                  <a:srgbClr val="526474"/>
                </a:solidFill>
                <a:latin typeface="Aptos"/>
              </a:rPr>
              <a:t>Understand → discuss → practise → reflect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is communication and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Communication and collaboration are essential for success in many aspects of life, including work, relationships, and personal development.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Allow individuals and teams to share ideas, goals, and feedback, while collaboration enables them to work together to achieve common objectives.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is effective communication?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Active Listening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Listener focuses on the speaker and seeks to understand their message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Helps to ensure that the listener understands the speaker's message and can respond appropriately</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is effective communication?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89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04</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Clarity and Conciseness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05</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Use simple languages, avoid using jargon or technical terms, be direct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06</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Helps to avoid confusion and ensure that the message is understood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is effective communication?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90</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Empathy</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Ability to understand and share the feelings of another person</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Speaker can build rapport and trust with the listener, which can help to ensure that the message is received positively</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Non-verbal Cues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is effective communication?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91</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05</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Body language, facial expressions, and tone of voice can convey meaning and emotion</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06</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Show sincerity and authenticity</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07</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Feedback</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08</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Ensure that the message has been received and understood by the listener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Communication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92</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Verbal: Face to face, Video conferencing</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Non- Verbal: Facial expressions, Body language</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Written: Emails, Reports, Letters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Digital: Instant messaging (Whatsapp/Telegram), Social Media</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 of Effective Communication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Team communication: In a healthcare setting, a team of doctors, nurses, and other healthcare professionals work together to provide care for a patient with a complex medical condition.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Effective communication among team members is crucial for ensuring that everyone has the information they need to make informed decisions and that care is delivered safely and efficiently.</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 of Effective Communication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Business communication: A manager communicates effectively with their team by providing clear goals and expectations, giving timely feedback, and listening actively to their team members' concerns and ideas.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This creates a positive work environment where team members feel valued and supported, leading to increased productivity and job satisfaction.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is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Collaboration refers to the process of working together with others to achieve a common goal or objective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By working together, individuals can achieve common goals more effectively, leverage their collective strengths, and achieve greater success than they would on their own.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Benefits of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96</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Increased productivity: Collaboration can lead to increased productivity as team members can share the workload and focus on their respective strengths and skills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Improved decision-making</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Having multiple perspectives can help identify potential pitfalls or limitations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Enhanced creativity: Bring about new ideas, approaches, and solutions that may not have been possible through individual efforts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 of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Scientific research collaboration: A group of researchers from different universities and countries collaborate to conduct a study on a particular topic.</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They bring their different areas of expertise, resources, and perspectives together to create a more comprehensive understanding of the subject.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This collaboration results in the production of high-quality research that advances scientific knowledge.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 of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Business partnership collaboration: Two companies collaborate to develop a new product or service that leverages the strengths of each company.</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They bring their different resources, technologies, and expertise to create something that neither company could have created alone.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This collaboration results in a product or service that is innovative and attractive to customers, leading to increased revenue and market share for both companies.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Communication &amp;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99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Communication is the foundation of collaboration as it enables individuals to share information, ideas, and feedback with each other.</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E.g: Team of designers working on a project for a client. The team members may have different areas of expertise, such as graphic design, web design, and user experience design.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They can leverage their respective strengths and skills to produce high-quality work that is greater than the sum of its parts.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Communicate &amp; Collaborate effectively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Establish clear goals and expectations for the project.</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Foster open and honest communication among team members.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Listen actively and seek to understand other perspectives.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Communicate &amp; Collaborate effectively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Use a variety of communication channels to accommodate different preferences and needs.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Be clear and concise in all communications.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Communicate &amp; Collaborate effectively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Provide regular updates on progress and milestones.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Encourage feedback and constructive criticism.</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Use collaboration tools and technologies to facilitate teamwork and organization.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Communicate &amp; Collaborate effectively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Respect the contributions and expertise of all team members.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Resolve conflicts promptly and respectfully.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 of Communication &amp;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Team of designers working on a project for a client. The team members may have different areas of expertise, such as graphic design, web design, and user experience design.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They can leverage their respective strengths and skills to produce high-quality work that is greater than the sum of its parts.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Best Practices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Define clear goals and roles: Make sure everyone is aware of the project goals, their role in achieving them, and what is expected of them.</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Establish open communication: Encourage open and honest communication among team members by creating a safe space for everyone to express their ideas and opinions.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Best Practices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106</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Use appropriate communication channels: Use the appropriate communication channels for the situation, such as email, phone calls, video conferencing, or instant messaging.</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Set communication guidelines: Establish guidelines for how often and in what format team members should communicate, and make sure everyone follows them.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Best Practices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Practice active listening: Listen carefully and attentively to what others are saying, ask questions, and seek clarification to ensure that you understand their perspective.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Provide regular updates: Regularly update the team on progress, issues, and changes in the project, and be transparent about any obstacles or challenges.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Best Practices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108</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Use collaboration tools: Use collaboration tools such as shared documents, project management software, and video conferencing platforms to facilitate teamwork and keep everyone on the same page.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Respect diversity: Embrace and respect diversity among team members, including different opinions, ideas, cultures, and backgrounds.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Best Practices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109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Foster a positive team culture: Create a positive team culture by celebrating successes, acknowledging individual contributions, and encouraging teamwork and collaboration.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Address conflicts promptly: Address conflicts or issues as soon as they arise, and work collaboratively to find solutions that benefit the team and project.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Handling difficult conversations and giving feedback</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110</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Be clear and concise</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Use clear and concise language to communicate your message effectively.</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Use visuals: Visual aids, such as graphs, charts, and diagrams, can help communicate complex information and make the conversation more engaging and interactive.</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Stay focused on the facts: Stick to the facts and avoid personal attacks or emotional language. Use specific examples to support your points.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Handling difficult conversations and giving feedback</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Use the "sandwich" approach: Start and end the conversation with positive feedback or appreciation, and sandwich the negative feedback or criticism in between.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Be empathetic: Try to put yourself in the other person's shoes and consider their perspective. Use "I" statements to express how their behavior or actions are affecting you or the team.</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TEACHING CLARIFICATION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Specific feedback is clearer than a formula</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112</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The reference deck introduces the sandwich approach. Praise used merely to soften criticism can make the message unclear.</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Prefer a specific observed behaviour, its effect, the person’s perspective and an agreed next action. Give genuine appreciation separately when warranted.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02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Handling difficult conversations and giving feedback</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Be solution-focused: Instead of dwelling on the problem, focus on finding a solution that works for everyone involved. Collaborate with the other person to find a way forward.</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Listen actively: Listen carefully to the other person's responses and be open to their perspective. Acknowledge their concerns and feelings.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Follow up: Follow up with the person after the conversation to ensure that they understand the feedback and to check on progress towards a resolution.</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Listening closes the understanding gap</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114</a:t>
            </a:r>
          </a:p>
        </p:txBody>
      </p:sp>
      <p:sp>
        <p:nvSpPr>
          <p:cNvPr id="6" name="Rounded Rectangle 5"/>
          <p:cNvSpPr/>
          <p:nvPr/>
        </p:nvSpPr>
        <p:spPr>
          <a:xfrm>
            <a:off x="548640"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Invite</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Listen</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Paraphrase</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Check</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Active listening means attending to the speaker, asking open questions and checking the meaning of what was said. A paraphrase is tentative: I hear that the deadline is clear but the data owner is not.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WORKED EXAMPLE · GOSKILLS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Listening closes the understanding gap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Is that right? This lets the other person correct the interpretation. Listening is not the same as agreeing. Once the concern is understood, explain constraints and discuss a workable commitment.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In a hybrid meeting, invite remote participants before closing a decision and share a written summary so people can correct errors. Clear communication supports shared work across roles and departments.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Feedback that can be acted 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116</a:t>
            </a:r>
          </a:p>
        </p:txBody>
      </p:sp>
      <p:sp>
        <p:nvSpPr>
          <p:cNvPr id="6" name="Rounded Rectangle 5"/>
          <p:cNvSpPr/>
          <p:nvPr/>
        </p:nvSpPr>
        <p:spPr>
          <a:xfrm>
            <a:off x="548640"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Situation</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Behaviour</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Impact</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Next agreement</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Useful feedback identifies a specific situation and observable behaviour, explains its effect, and invites a response. On Tuesday's handover, the status sheet had no named owner; two colleagues repeated the work.</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WORKED EXAMPLE · CCL</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Feedback that can be acted on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This is more actionable than You are careless. Ask what the person saw and agree a next action, owner and review date. Separate a quality problem from a judgement about character.</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Deliver sensitive feedback privately; use the group discussion for shared processes.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If the issue involves misconduct or a serious policy concern, the ordinary coaching conversation is not a substitute for the organisation's reporting process.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Collaborate across boundaries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118</a:t>
            </a:r>
          </a:p>
        </p:txBody>
      </p:sp>
      <p:sp>
        <p:nvSpPr>
          <p:cNvPr id="6" name="Rounded Rectangle 5"/>
          <p:cNvSpPr/>
          <p:nvPr/>
        </p:nvSpPr>
        <p:spPr>
          <a:xfrm>
            <a:off x="548640"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Shared outcome</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Dependencies</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Decision owner</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245A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Review rhythm</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Collaboration needs a shared outcome and a clear way to coordinate dependencies. Teams can disagree about a method while supporting the same goal.</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WORKED EXAMPLE · COURSERA SKILLS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Collaborate across boundaries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119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Meridian's sales and delivery groups create one handover definition: customer scope, acceptance criteria, owner and deadline. They name who decides scope changes and when unresolved issues are raised.</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 collaboration channel does not replace decision rights. The leader makes expertise visible, invites dissent and records agreements.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Keep messages brief enough for the intended audience, but include the assumptions that another team needs to do its work.</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03: Active Listening Triads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120</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check meaning before solving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245A81"/>
                </a:solidFill>
                <a:latin typeface="Aptos"/>
              </a:rPr>
              <a:t>Finished result: A completed active listening triads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245A81"/>
                </a:solidFill>
                <a:latin typeface="Aptos"/>
              </a:rPr>
              <a:t>Apply the concepts</a:t>
            </a:r>
          </a:p>
          <a:p>
            <a:pPr algn="l">
              <a:spcAft>
                <a:spcPts val="800"/>
              </a:spcAft>
            </a:pPr>
            <a:r>
              <a:rPr sz="2400" b="1">
                <a:solidFill>
                  <a:srgbClr val="245A81"/>
                </a:solidFill>
                <a:latin typeface="Aptos"/>
              </a:rPr>
              <a:t>Compare perspectives</a:t>
            </a:r>
          </a:p>
          <a:p>
            <a:pPr algn="l">
              <a:spcAft>
                <a:spcPts val="800"/>
              </a:spcAft>
            </a:pPr>
            <a:r>
              <a:rPr sz="2400" b="1">
                <a:solidFill>
                  <a:srgbClr val="245A81"/>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OPTIONAL DISCUSSION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Original practice context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NextGen Solutions, a mid-sized software development company, was experiencing a decline in productivity and employee morale due to poor communication and collaboration among different departments.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The lack of coordination between teams led to missed deadlines, duplicated work, and inefficiencies. The company's management decided to address these issues by implementing new strategies to foster better communication and collaboration.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How will you resolve these issues?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04: Feedback and Handover Agreement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122</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give specific feedback and coordinate work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245A81"/>
                </a:solidFill>
                <a:latin typeface="Aptos"/>
              </a:rPr>
              <a:t>Finished result: A completed feedback and handover agreement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245A81"/>
                </a:solidFill>
                <a:latin typeface="Aptos"/>
              </a:rPr>
              <a:t>Apply the concepts</a:t>
            </a:r>
          </a:p>
          <a:p>
            <a:pPr algn="l">
              <a:spcAft>
                <a:spcPts val="800"/>
              </a:spcAft>
            </a:pPr>
            <a:r>
              <a:rPr sz="2400" b="1">
                <a:solidFill>
                  <a:srgbClr val="245A81"/>
                </a:solidFill>
                <a:latin typeface="Aptos"/>
              </a:rPr>
              <a:t>Compare perspectives</a:t>
            </a:r>
          </a:p>
          <a:p>
            <a:pPr algn="l">
              <a:spcAft>
                <a:spcPts val="800"/>
              </a:spcAft>
            </a:pPr>
            <a:r>
              <a:rPr sz="2400" b="1">
                <a:solidFill>
                  <a:srgbClr val="245A81"/>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245A81"/>
                </a:solidFill>
                <a:latin typeface="Aptos"/>
              </a:rPr>
              <a:t>TOPIC RECAP</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Recap: Communication and Collaboration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LO2: Use active listening and specific feedback to build a shared understanding.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Explain your choice with evidence, name a trade-off and record a review point.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245A81"/>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Which behaviour will you keep practising after today?</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Decision Making and Problem Solving</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124</a:t>
            </a:r>
          </a:p>
        </p:txBody>
      </p:sp>
      <p:sp>
        <p:nvSpPr>
          <p:cNvPr id="6" name="Oval 5"/>
          <p:cNvSpPr/>
          <p:nvPr/>
        </p:nvSpPr>
        <p:spPr>
          <a:xfrm>
            <a:off x="7955279" y="2011680"/>
            <a:ext cx="3566160" cy="356616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2514600"/>
            <a:ext cx="2926080" cy="1828800"/>
          </a:xfrm>
          <a:prstGeom prst="rect">
            <a:avLst/>
          </a:prstGeom>
          <a:noFill/>
        </p:spPr>
        <p:txBody>
          <a:bodyPr wrap="square" lIns="0" rIns="0" tIns="0">
            <a:spAutoFit/>
          </a:bodyPr>
          <a:lstStyle/>
          <a:p>
            <a:pPr algn="ctr">
              <a:spcAft>
                <a:spcPts val="800"/>
              </a:spcAft>
            </a:pPr>
            <a:r>
              <a:rPr sz="10000" b="1">
                <a:solidFill>
                  <a:srgbClr val="885E34"/>
                </a:solidFill>
                <a:latin typeface="Aptos"/>
              </a:rPr>
              <a:t>03</a:t>
            </a:r>
          </a:p>
        </p:txBody>
      </p:sp>
      <p:sp>
        <p:nvSpPr>
          <p:cNvPr id="8" name="TextBox 7"/>
          <p:cNvSpPr txBox="1"/>
          <p:nvPr/>
        </p:nvSpPr>
        <p:spPr>
          <a:xfrm>
            <a:off x="594360" y="2331720"/>
            <a:ext cx="6766560" cy="1554480"/>
          </a:xfrm>
          <a:prstGeom prst="rect">
            <a:avLst/>
          </a:prstGeom>
          <a:noFill/>
        </p:spPr>
        <p:txBody>
          <a:bodyPr wrap="square" lIns="0" rIns="0" tIns="0">
            <a:spAutoFit/>
          </a:bodyPr>
          <a:lstStyle/>
          <a:p>
            <a:pPr algn="l">
              <a:spcAft>
                <a:spcPts val="800"/>
              </a:spcAft>
            </a:pPr>
            <a:r>
              <a:rPr sz="2900" b="0">
                <a:solidFill>
                  <a:srgbClr val="152A3A"/>
                </a:solidFill>
                <a:latin typeface="Aptos"/>
              </a:rPr>
              <a:t>Evidence, options, risk, bias and ethical judgement</a:t>
            </a:r>
          </a:p>
        </p:txBody>
      </p:sp>
      <p:sp>
        <p:nvSpPr>
          <p:cNvPr id="9" name="TextBox 8"/>
          <p:cNvSpPr txBox="1"/>
          <p:nvPr/>
        </p:nvSpPr>
        <p:spPr>
          <a:xfrm>
            <a:off x="594360" y="4754880"/>
            <a:ext cx="6766560" cy="640080"/>
          </a:xfrm>
          <a:prstGeom prst="rect">
            <a:avLst/>
          </a:prstGeom>
          <a:noFill/>
        </p:spPr>
        <p:txBody>
          <a:bodyPr wrap="square" lIns="0" rIns="0" tIns="0">
            <a:spAutoFit/>
          </a:bodyPr>
          <a:lstStyle/>
          <a:p>
            <a:pPr algn="l">
              <a:spcAft>
                <a:spcPts val="800"/>
              </a:spcAft>
            </a:pPr>
            <a:r>
              <a:rPr sz="2000" b="0">
                <a:solidFill>
                  <a:srgbClr val="526474"/>
                </a:solidFill>
                <a:latin typeface="Aptos"/>
              </a:rPr>
              <a:t>Understand → discuss → practise → reflect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Why is decision making and problem solving important?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Effective decision making and problem solving can help organizations achieve their goals and objectives.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By making informed decisions and solving problems efficiently, organizations can reduce costs, increase productivity, and improve customer satisfaction.</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Why is decision making and problem solving important?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126</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Collaboration, communication, and data-driven decision making - are combined, they can lead to powerful problem-solving strategies.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By working together, sharing information, and making decisions based on data, teams can solve even the most complex problems and achieve their goals more effectively.</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Decision-making frameworks and models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Rational decision-making model: A systematic and logical approach to decision-making that involves identifying the problem, gathering information, generating alternatives, evaluating alternatives, and selecting the best alternative.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Bounded rationality model: A model that acknowledges that decision-makers have limited information, cognitive capacity, and time, and therefore cannot always make fully rational decisions.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Instead, decision-makers use heuristics, or mental shortcuts, to simplify the decision-making process.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Decision-making frameworks and models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Intuitive decision-making model: A model that relies on gut feelings, instincts, and past experiences to make decisions quickly and efficiently, without necessarily following a structured process.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Delphi technique: A decision-making technique that involves a group of experts who provide anonymous feedback on a problem or question.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feedback is then compiled and shared with the group, who then provide further feedback until a consensus is reached.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Decision-making frameworks and models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129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Cost-benefit analysis: A decision-making tool that compares the costs and benefits of different alternatives to determine the best course of action.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SWOT analysis: A decision-making tool that identifies the strengths, weaknesses, opportunities, and threats of a particular course of action, in order to make an informed decision.</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Analyzing and Interpreting data</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130</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Data analysis is important because it helps organizations make informed decisions based on insights derived from data.</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By analyzing data, organizations can identify patterns, trends, and relationships that would be difficult to detect otherwise.</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Data analysis enables organizations to understand their customers, optimize their operations, and improve their products and services. It can also help organizations identify and mitigate risks, and uncover opportunities for growth.</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Ultimately, data analysis allows organizations to make better decisions that lead to improved outcomes and greater success.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Ways to analyze data</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Root cause analysis: Analyze data to identify the root cause of a problem or issue. This involves looking for patterns and trends in the data, and using various tools and techniques to identify the underlying causes of the problem.</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Cost-benefit analysis: Analyze data to determine the costs and benefits associated with different options or solutions to a problem.</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This involves quantifying the potential costs and benefits of each option and comparing them to make an informed decision.</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Ways to analyze data</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132</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Risk analysis: Analyze data to identify potential risks and assess their likelihood and potential impact.</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This involves looking for patterns in the data that may indicate areas of high risk, and assessing the probability of different outcomes to inform decision making.</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Decision tree analysis: Analyze data to create a decision tree that visually represents the different options, outcomes, and probabilities associated with a decision.</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This can help to identify the best course of action based on the available data.</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Ways to analyze data</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133</a:t>
            </a:r>
          </a:p>
        </p:txBody>
      </p:sp>
      <p:sp>
        <p:nvSpPr>
          <p:cNvPr id="6" name="Rectangle 5"/>
          <p:cNvSpPr/>
          <p:nvPr/>
        </p:nvSpPr>
        <p:spPr>
          <a:xfrm>
            <a:off x="548640" y="1920240"/>
            <a:ext cx="1106424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9985248" cy="3831336"/>
          </a:xfrm>
          <a:prstGeom prst="rect">
            <a:avLst/>
          </a:prstGeom>
          <a:noFill/>
        </p:spPr>
        <p:txBody>
          <a:bodyPr wrap="square" lIns="0" rIns="0" tIns="0">
            <a:spAutoFit/>
          </a:bodyPr>
          <a:lstStyle/>
          <a:p>
            <a:pPr algn="l">
              <a:spcAft>
                <a:spcPts val="800"/>
              </a:spcAft>
            </a:pPr>
            <a:r>
              <a:rPr sz="1600" b="0">
                <a:solidFill>
                  <a:srgbClr val="152A3A"/>
                </a:solidFill>
                <a:latin typeface="Aptos"/>
              </a:rPr>
              <a:t>SWOT analysis: Analyze data to identify strengths, weaknesses, opportunities, and threats associated with a particular situation. This can help to inform decision making by identifying potential obstacles and opportunities for improvement.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Managing risk and uncertainty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Organizations can reduce the potential for negative outcomes and improve their ability to respond to unexpected challenges.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It also helps decision makers make more informed and strategic decisions that are based on a realistic assessment of potential risks and opportunities.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manage risk and uncertainty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Identify potential risks: Identify potential risks by brainstorming with the team and considering factors such as past experience, industry knowledge, and environmental factors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Assess the likelihood and impact of risks: Assess the likelihood and potential impact of each identified risk to determine which ones require the most attention and resources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Develop a risk management plan: Develop a plan for managing each identified risk, which may include strategies such as avoidance, mitigation, transfer, or acceptance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manage risk and uncertainty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Create contingency plans: Create contingency plans in case of unexpected events or risks that were not identified or properly managed.</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Use data and analytics: Use data and analytics to gain insights into potential risks and uncertainties, and to inform decision-making</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Communicate effectively: Communicate risks and uncertainties to stakeholders and team members, including potential impact and management strategies, to ensure everyone is aware and prepared.</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Making ethical decisions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137</a:t>
            </a:r>
          </a:p>
        </p:txBody>
      </p:sp>
      <p:sp>
        <p:nvSpPr>
          <p:cNvPr id="6" name="Rectangle 5"/>
          <p:cNvSpPr/>
          <p:nvPr/>
        </p:nvSpPr>
        <p:spPr>
          <a:xfrm>
            <a:off x="548640" y="1920240"/>
            <a:ext cx="1106424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9985248" cy="3831336"/>
          </a:xfrm>
          <a:prstGeom prst="rect">
            <a:avLst/>
          </a:prstGeom>
          <a:noFill/>
        </p:spPr>
        <p:txBody>
          <a:bodyPr wrap="square" lIns="0" rIns="0" tIns="0">
            <a:spAutoFit/>
          </a:bodyPr>
          <a:lstStyle/>
          <a:p>
            <a:pPr algn="l">
              <a:spcAft>
                <a:spcPts val="800"/>
              </a:spcAft>
            </a:pPr>
            <a:r>
              <a:rPr sz="1600" b="0">
                <a:solidFill>
                  <a:srgbClr val="152A3A"/>
                </a:solidFill>
                <a:latin typeface="Aptos"/>
              </a:rPr>
              <a:t>Individuals and organizations can make more ethical decisions that are consistent with their values and principles. It helps build trust and credibility with stakeholders and promote a positive organizational culture.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make ethical decisions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Identify the ethical issue: Recognize that there is an ethical issue that requires attention, and define the problem clearly.</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Gather information: Collect all relevant information related to the ethical issue, including facts, values, and perspectives from all parties involved.</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Identify stakeholders: Identify all stakeholders who may be affected by the decision, including employees, customers, suppliers, shareholders, and the broader community.</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make ethical decisions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139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4. Evaluate alternative actions: Consider all possible actions that could be taken, and evaluate the ethical implications of each option. Use ethical frameworks to guide your thinking.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5. Choose the best course of action: Based on the evaluation of alternative actions, choose the course of action that aligns with ethical principles and values.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6. Implement the decision: Once a decision has been made, implement it with transparency and clarity. Communicate the decision and the reasoning behind it to all stakeholders.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03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How to make ethical decisions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140</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7. Monitor and evaluate the decision: Monitor the decision to ensure that it is being implemented effectively and evaluate its outcomes to determine whether it was the right decision.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8. Continuously improve: Use the experience gained from the decision-making process to continuously improve the ethical culture and decision-making processes within the organization.</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Make uncertainty visible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141</a:t>
            </a:r>
          </a:p>
        </p:txBody>
      </p:sp>
      <p:sp>
        <p:nvSpPr>
          <p:cNvPr id="6" name="Rounded Rectangle 5"/>
          <p:cNvSpPr/>
          <p:nvPr/>
        </p:nvSpPr>
        <p:spPr>
          <a:xfrm>
            <a:off x="548640"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Known facts</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Assumptions</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Missing evidence</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Review trigger</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Good decisions distinguish evidence from assumptions. A low satisfaction score describes a result; it does not prove which process caused it.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WORKED EXAMPLE · IMD</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Make uncertainty visible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142</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Ask how the data was collected, how much is missing and whether the comparison is fair. State what remains unknown rather than filling gaps with confidence. For a reversible choice, a limited pilot may produce useful evidence.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For a decision with serious consequences, seek the right expertise and approvals before acting. The decision record names the rationale, key uncertainty and the condition that would justify reconsidering it.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Weighted options need judgement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143</a:t>
            </a:r>
          </a:p>
        </p:txBody>
      </p:sp>
      <p:sp>
        <p:nvSpPr>
          <p:cNvPr id="6" name="Rounded Rectangle 5"/>
          <p:cNvSpPr/>
          <p:nvPr/>
        </p:nvSpPr>
        <p:spPr>
          <a:xfrm>
            <a:off x="548640"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Define criteria</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Choose weights</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Compare scores</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Check sensitivity</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A decision matrix makes trade-offs explicit, but the number is only as reliable as its assumptions. For Meridian's supplier decision, service quality is weighted 0.4, cost 0.3 and resilience 0.3.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WORKED EXAMPLE · ORIGINAL TEACHING EXAMPLE</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Weighted options need judgement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Scores of 4, 3, 4 yield 3.7; scores of 3, 5, 2 yield 3.3. These are invented teaching data, not market results. Change the cost weight to see whether the ranking reverses. Explain score evidence and identify a minimum acceptable standard.</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An option that fails a non-negotiable ethical or safety constraint should not win merely because another score is high.</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FICTIONAL TEACHING DATA</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 decision matrix makes assumptions visible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145</a:t>
            </a:r>
          </a:p>
        </p:txBody>
      </p:sp>
      <p:graphicFrame>
        <p:nvGraphicFramePr>
          <p:cNvPr id="6" name="Chart 5"/>
          <p:cNvGraphicFramePr>
            <a:graphicFrameLocks noGrp="1"/>
          </p:cNvGraphicFramePr>
          <p:nvPr/>
        </p:nvGraphicFramePr>
        <p:xfrm>
          <a:off x="594360" y="1965960"/>
          <a:ext cx="6400800" cy="4160520"/>
        </p:xfrm>
        <a:graphic>
          <a:graphicData uri="http://schemas.openxmlformats.org/drawingml/2006/chart">
            <c:chart xmlns:c="http://schemas.openxmlformats.org/drawingml/2006/chart" r:id="rId2"/>
          </a:graphicData>
        </a:graphic>
      </p:graphicFrame>
      <p:sp>
        <p:nvSpPr>
          <p:cNvPr id="7" name="TextBox 6"/>
          <p:cNvSpPr txBox="1"/>
          <p:nvPr/>
        </p:nvSpPr>
        <p:spPr>
          <a:xfrm>
            <a:off x="7406640" y="2103120"/>
            <a:ext cx="4160520" cy="1371600"/>
          </a:xfrm>
          <a:prstGeom prst="rect">
            <a:avLst/>
          </a:prstGeom>
          <a:noFill/>
        </p:spPr>
        <p:txBody>
          <a:bodyPr wrap="square" lIns="0" rIns="0" tIns="0">
            <a:spAutoFit/>
          </a:bodyPr>
          <a:lstStyle/>
          <a:p>
            <a:pPr algn="l">
              <a:spcAft>
                <a:spcPts val="800"/>
              </a:spcAft>
            </a:pPr>
            <a:r>
              <a:rPr sz="2400" b="1">
                <a:solidFill>
                  <a:srgbClr val="087F8C"/>
                </a:solidFill>
                <a:latin typeface="Aptos"/>
              </a:rPr>
              <a:t>Weights: 0.4 / 0.3 / 0.3</a:t>
            </a:r>
          </a:p>
          <a:p>
            <a:pPr algn="l">
              <a:spcAft>
                <a:spcPts val="800"/>
              </a:spcAft>
            </a:pPr>
            <a:r>
              <a:rPr sz="2400" b="1">
                <a:solidFill>
                  <a:srgbClr val="087F8C"/>
                </a:solidFill>
                <a:latin typeface="Aptos"/>
              </a:rPr>
              <a:t>A = 3.7     B = 3.3</a:t>
            </a:r>
          </a:p>
        </p:txBody>
      </p:sp>
      <p:sp>
        <p:nvSpPr>
          <p:cNvPr id="8" name="TextBox 7"/>
          <p:cNvSpPr txBox="1"/>
          <p:nvPr/>
        </p:nvSpPr>
        <p:spPr>
          <a:xfrm>
            <a:off x="7406640" y="3703320"/>
            <a:ext cx="4160520" cy="2103120"/>
          </a:xfrm>
          <a:prstGeom prst="rect">
            <a:avLst/>
          </a:prstGeom>
          <a:noFill/>
        </p:spPr>
        <p:txBody>
          <a:bodyPr wrap="square" lIns="0" rIns="0" tIns="0">
            <a:spAutoFit/>
          </a:bodyPr>
          <a:lstStyle/>
          <a:p>
            <a:pPr algn="l">
              <a:spcAft>
                <a:spcPts val="800"/>
              </a:spcAft>
            </a:pPr>
            <a:r>
              <a:rPr sz="2200" b="0">
                <a:solidFill>
                  <a:srgbClr val="152A3A"/>
                </a:solidFill>
                <a:latin typeface="Aptos"/>
              </a:rPr>
              <a:t>Change weights to 0.2 / 0.6 / 0.2:</a:t>
            </a:r>
          </a:p>
          <a:p>
            <a:pPr algn="l">
              <a:spcAft>
                <a:spcPts val="800"/>
              </a:spcAft>
            </a:pPr>
            <a:r>
              <a:rPr sz="2200" b="0">
                <a:solidFill>
                  <a:srgbClr val="152A3A"/>
                </a:solidFill>
                <a:latin typeface="Aptos"/>
              </a:rPr>
              <a:t>A = 3.4     B = 4.0</a:t>
            </a:r>
          </a:p>
          <a:p>
            <a:pPr algn="l">
              <a:spcAft>
                <a:spcPts val="800"/>
              </a:spcAft>
            </a:pPr>
            <a:r>
              <a:rPr sz="2200" b="0">
                <a:solidFill>
                  <a:srgbClr val="152A3A"/>
                </a:solidFill>
                <a:latin typeface="Aptos"/>
              </a:rPr>
              <a:t>The ranking changes. Explain why.</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Ethical decisions consider affected people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146</a:t>
            </a:r>
          </a:p>
        </p:txBody>
      </p:sp>
      <p:sp>
        <p:nvSpPr>
          <p:cNvPr id="6" name="Rounded Rectangle 5"/>
          <p:cNvSpPr/>
          <p:nvPr/>
        </p:nvSpPr>
        <p:spPr>
          <a:xfrm>
            <a:off x="548640"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Affected groups</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Duties and values</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Likely consequences</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885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Defensible choice</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An ethical decision considers who benefits, who bears costs and whether the process is fair. Check values and duties before comparing convenience.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WORKED EXAMPLE · SCU SKILLS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Ethical decisions consider affected people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A manager who wants to share customer information to speed delivery should question access, consent and the minimum information required. Discuss alternatives that achieve the purpose with less harm.</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Explain the choice in plain language and document unresolved concerns. The public explanation test helps expose inconsistent reasoning, but it does not replace policy, specialist guidance or the rights of affected people.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Integrity becomes visible in how the leader handles an inconvenient constraint.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05: Evidence and Decision Matrix</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148</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compare alternatives and test assumptions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885E34"/>
                </a:solidFill>
                <a:latin typeface="Aptos"/>
              </a:rPr>
              <a:t>Finished result: A completed evidence and decision matrix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885E34"/>
                </a:solidFill>
                <a:latin typeface="Aptos"/>
              </a:rPr>
              <a:t>Apply the concepts</a:t>
            </a:r>
          </a:p>
          <a:p>
            <a:pPr algn="l">
              <a:spcAft>
                <a:spcPts val="800"/>
              </a:spcAft>
            </a:pPr>
            <a:r>
              <a:rPr sz="2400" b="1">
                <a:solidFill>
                  <a:srgbClr val="885E34"/>
                </a:solidFill>
                <a:latin typeface="Aptos"/>
              </a:rPr>
              <a:t>Compare perspectives</a:t>
            </a:r>
          </a:p>
          <a:p>
            <a:pPr algn="l">
              <a:spcAft>
                <a:spcPts val="800"/>
              </a:spcAft>
            </a:pPr>
            <a:r>
              <a:rPr sz="2400" b="1">
                <a:solidFill>
                  <a:srgbClr val="885E34"/>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OPTIONAL DISCUSSION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Original practice context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149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A company is facing pressure from a potential client to engage in unethical business practices in order to win their business. The CEO has called a meeting with the relevant department heads to discuss the situation and make a decision.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Do a short role play on ethical decisions.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06: Ethical Decision and Premortem</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150</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check consequences and failure routes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885E34"/>
                </a:solidFill>
                <a:latin typeface="Aptos"/>
              </a:rPr>
              <a:t>Finished result: A completed ethical decision and premortem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885E34"/>
                </a:solidFill>
                <a:latin typeface="Aptos"/>
              </a:rPr>
              <a:t>Apply the concepts</a:t>
            </a:r>
          </a:p>
          <a:p>
            <a:pPr algn="l">
              <a:spcAft>
                <a:spcPts val="800"/>
              </a:spcAft>
            </a:pPr>
            <a:r>
              <a:rPr sz="2400" b="1">
                <a:solidFill>
                  <a:srgbClr val="885E34"/>
                </a:solidFill>
                <a:latin typeface="Aptos"/>
              </a:rPr>
              <a:t>Compare perspectives</a:t>
            </a:r>
          </a:p>
          <a:p>
            <a:pPr algn="l">
              <a:spcAft>
                <a:spcPts val="800"/>
              </a:spcAft>
            </a:pPr>
            <a:r>
              <a:rPr sz="2400" b="1">
                <a:solidFill>
                  <a:srgbClr val="885E34"/>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85E34"/>
                </a:solidFill>
                <a:latin typeface="Aptos"/>
              </a:rPr>
              <a:t>TOPIC RECAP</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Recap: Decision Making and Problem Solving</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LO3: Compare options using evidence, uncertainty and ethical constraints.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Explain your choice with evidence, name a trade-off and record a review point.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85E34"/>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Which behaviour will you keep practising after today?</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Motivation and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152</a:t>
            </a:r>
          </a:p>
        </p:txBody>
      </p:sp>
      <p:sp>
        <p:nvSpPr>
          <p:cNvPr id="6" name="Oval 5"/>
          <p:cNvSpPr/>
          <p:nvPr/>
        </p:nvSpPr>
        <p:spPr>
          <a:xfrm>
            <a:off x="7955279" y="2011680"/>
            <a:ext cx="3566160" cy="356616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2514600"/>
            <a:ext cx="2926080" cy="1828800"/>
          </a:xfrm>
          <a:prstGeom prst="rect">
            <a:avLst/>
          </a:prstGeom>
          <a:noFill/>
        </p:spPr>
        <p:txBody>
          <a:bodyPr wrap="square" lIns="0" rIns="0" tIns="0">
            <a:spAutoFit/>
          </a:bodyPr>
          <a:lstStyle/>
          <a:p>
            <a:pPr algn="ctr">
              <a:spcAft>
                <a:spcPts val="800"/>
              </a:spcAft>
            </a:pPr>
            <a:r>
              <a:rPr sz="10000" b="1">
                <a:solidFill>
                  <a:srgbClr val="42734A"/>
                </a:solidFill>
                <a:latin typeface="Aptos"/>
              </a:rPr>
              <a:t>04</a:t>
            </a:r>
          </a:p>
        </p:txBody>
      </p:sp>
      <p:sp>
        <p:nvSpPr>
          <p:cNvPr id="8" name="TextBox 7"/>
          <p:cNvSpPr txBox="1"/>
          <p:nvPr/>
        </p:nvSpPr>
        <p:spPr>
          <a:xfrm>
            <a:off x="594360" y="2331720"/>
            <a:ext cx="6766560" cy="1554480"/>
          </a:xfrm>
          <a:prstGeom prst="rect">
            <a:avLst/>
          </a:prstGeom>
          <a:noFill/>
        </p:spPr>
        <p:txBody>
          <a:bodyPr wrap="square" lIns="0" rIns="0" tIns="0">
            <a:spAutoFit/>
          </a:bodyPr>
          <a:lstStyle/>
          <a:p>
            <a:pPr algn="l">
              <a:spcAft>
                <a:spcPts val="800"/>
              </a:spcAft>
            </a:pPr>
            <a:r>
              <a:rPr sz="2900" b="0">
                <a:solidFill>
                  <a:srgbClr val="152A3A"/>
                </a:solidFill>
                <a:latin typeface="Aptos"/>
              </a:rPr>
              <a:t>Motivation theories, goals, coaching and fair performance support</a:t>
            </a:r>
          </a:p>
        </p:txBody>
      </p:sp>
      <p:sp>
        <p:nvSpPr>
          <p:cNvPr id="9" name="TextBox 8"/>
          <p:cNvSpPr txBox="1"/>
          <p:nvPr/>
        </p:nvSpPr>
        <p:spPr>
          <a:xfrm>
            <a:off x="594360" y="4754880"/>
            <a:ext cx="6766560" cy="640080"/>
          </a:xfrm>
          <a:prstGeom prst="rect">
            <a:avLst/>
          </a:prstGeom>
          <a:noFill/>
        </p:spPr>
        <p:txBody>
          <a:bodyPr wrap="square" lIns="0" rIns="0" tIns="0">
            <a:spAutoFit/>
          </a:bodyPr>
          <a:lstStyle/>
          <a:p>
            <a:pPr algn="l">
              <a:spcAft>
                <a:spcPts val="800"/>
              </a:spcAft>
            </a:pPr>
            <a:r>
              <a:rPr sz="2000" b="0">
                <a:solidFill>
                  <a:srgbClr val="526474"/>
                </a:solidFill>
                <a:latin typeface="Aptos"/>
              </a:rPr>
              <a:t>Understand → discuss → practise → reflect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Definition of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The driving force or inner state that stimulates individuals to take action towards achieving their goals.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Motivation is crucial in achieving goals and improving performance. Motivated individuals also tend to have higher levels of job satisfaction, engagement, and commitment, leading to improved productivity, performance, and overall success.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Intrinsic motivation: Refers to the inner drive or desire to engage in an activity or behavior for its own sake, rather than for external rewards or incentives.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Extrinsic motivation: Driven by external factors such as rewards, recognition, and social approval, rather than internal factors such as personal growth or self-expression.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Examples of Intrinsic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Personal growth and development: Some people are motivated to learn and grow, simply for the sake of learning and growing. They enjoy challenging themselves, acquiring new knowledge and skills, and expanding their horizons.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Creativity: Some people are motivated by the desire to create and express themselves. They enjoy engaging in artistic or creative activities, such as writing, painting, or music, simply for the joy of self-expression.</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Examples of Intrinsic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Helping others: Some people are motivated by the desire to help others and make a positive impact in the world.</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They may volunteer their time, donate money, or engage in other acts of kindness, simply because it makes them feel good to help others.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Curiosity: Some people are motivated by curiosity and the desire to explore and discover. They may be motivated to solve puzzles, explore new places, or uncover new knowledge, simply for the thrill of discovery.</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Examples of Intrinsic Motivation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Mastery: Some people are motivated by the desire to master a particular skill or activity.</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They enjoy the challenge of becoming highly skilled and proficient in a particular domain, whether it be a sport, a musical instrument, or a particular profession.</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Examples of Extrinsic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158</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Money: Many people are motivated to work because they receive a salary or other financial rewards for their efforts. They may work longer hours, take on more challenging tasks, or pursue promotions in order to earn more money.</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Grades: Students may be motivated to study hard and perform well in order to earn good grades and avoid negative consequences such as failing a class or disappointing their parents.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Examples of Extrinsic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159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Recognition: Employees may be motivated to work harder or achieve better results in order to receive recognition or praise from their managers or peers.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Status: Some people may be motivated to acquire material possessions or social status symbols in order to gain status or social approval.</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They may pursue expensive cars, designer clothes, or luxury vacations in order to signal their success to others.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Examples of Extrinsic Motivation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160</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Fear of punishment: People may be motivated to comply with rules or regulations in order to avoid punishment or negative consequences.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For example, a driver may be motivated to obey traffic laws in order to avoid getting a ticket or causing an accident.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Theories of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Maslow's Hierarchy of Needs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Herzberg's Two-Factor Theory</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Self-Determination Theory</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MOTIVATION MODEL · DISCUSSION LENS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Maslow's Hierarchy of Needs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162</a:t>
            </a:r>
          </a:p>
        </p:txBody>
      </p:sp>
      <p:sp>
        <p:nvSpPr>
          <p:cNvPr id="6" name="Trapezoid 5"/>
          <p:cNvSpPr/>
          <p:nvPr/>
        </p:nvSpPr>
        <p:spPr>
          <a:xfrm>
            <a:off x="2011680" y="2011680"/>
            <a:ext cx="2743200" cy="576072"/>
          </a:xfrm>
          <a:prstGeom prst="trapezoid">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20" y="2148840"/>
            <a:ext cx="2560320" cy="320040"/>
          </a:xfrm>
          <a:prstGeom prst="rect">
            <a:avLst/>
          </a:prstGeom>
          <a:noFill/>
        </p:spPr>
        <p:txBody>
          <a:bodyPr wrap="square" lIns="0" rIns="0" tIns="0">
            <a:spAutoFit/>
          </a:bodyPr>
          <a:lstStyle/>
          <a:p>
            <a:pPr algn="ctr">
              <a:spcAft>
                <a:spcPts val="800"/>
              </a:spcAft>
            </a:pPr>
            <a:r>
              <a:rPr sz="1600" b="1">
                <a:solidFill>
                  <a:srgbClr val="FFFFFF"/>
                </a:solidFill>
                <a:latin typeface="Aptos"/>
              </a:rPr>
              <a:t>Self-actualisation</a:t>
            </a:r>
          </a:p>
        </p:txBody>
      </p:sp>
      <p:sp>
        <p:nvSpPr>
          <p:cNvPr id="8" name="Trapezoid 7"/>
          <p:cNvSpPr/>
          <p:nvPr/>
        </p:nvSpPr>
        <p:spPr>
          <a:xfrm>
            <a:off x="1623060" y="2670048"/>
            <a:ext cx="3520440" cy="576072"/>
          </a:xfrm>
          <a:prstGeom prst="trapezoid">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14500" y="2807208"/>
            <a:ext cx="3337560" cy="320040"/>
          </a:xfrm>
          <a:prstGeom prst="rect">
            <a:avLst/>
          </a:prstGeom>
          <a:noFill/>
        </p:spPr>
        <p:txBody>
          <a:bodyPr wrap="square" lIns="0" rIns="0" tIns="0">
            <a:spAutoFit/>
          </a:bodyPr>
          <a:lstStyle/>
          <a:p>
            <a:pPr algn="ctr">
              <a:spcAft>
                <a:spcPts val="800"/>
              </a:spcAft>
            </a:pPr>
            <a:r>
              <a:rPr sz="1600" b="1">
                <a:solidFill>
                  <a:srgbClr val="FFFFFF"/>
                </a:solidFill>
                <a:latin typeface="Aptos"/>
              </a:rPr>
              <a:t>Esteem</a:t>
            </a:r>
          </a:p>
        </p:txBody>
      </p:sp>
      <p:sp>
        <p:nvSpPr>
          <p:cNvPr id="10" name="Trapezoid 9"/>
          <p:cNvSpPr/>
          <p:nvPr/>
        </p:nvSpPr>
        <p:spPr>
          <a:xfrm>
            <a:off x="1234440" y="3328416"/>
            <a:ext cx="4297680" cy="576072"/>
          </a:xfrm>
          <a:prstGeom prst="trapezoid">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3465576"/>
            <a:ext cx="4114800" cy="320040"/>
          </a:xfrm>
          <a:prstGeom prst="rect">
            <a:avLst/>
          </a:prstGeom>
          <a:noFill/>
        </p:spPr>
        <p:txBody>
          <a:bodyPr wrap="square" lIns="0" rIns="0" tIns="0">
            <a:spAutoFit/>
          </a:bodyPr>
          <a:lstStyle/>
          <a:p>
            <a:pPr algn="ctr">
              <a:spcAft>
                <a:spcPts val="800"/>
              </a:spcAft>
            </a:pPr>
            <a:r>
              <a:rPr sz="1600" b="1">
                <a:solidFill>
                  <a:srgbClr val="FFFFFF"/>
                </a:solidFill>
                <a:latin typeface="Aptos"/>
              </a:rPr>
              <a:t>Belonging</a:t>
            </a:r>
          </a:p>
        </p:txBody>
      </p:sp>
      <p:sp>
        <p:nvSpPr>
          <p:cNvPr id="12" name="Trapezoid 11"/>
          <p:cNvSpPr/>
          <p:nvPr/>
        </p:nvSpPr>
        <p:spPr>
          <a:xfrm>
            <a:off x="845820" y="3986784"/>
            <a:ext cx="5074920" cy="576072"/>
          </a:xfrm>
          <a:prstGeom prst="trapezoid">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7260" y="4123944"/>
            <a:ext cx="4892040" cy="320040"/>
          </a:xfrm>
          <a:prstGeom prst="rect">
            <a:avLst/>
          </a:prstGeom>
          <a:noFill/>
        </p:spPr>
        <p:txBody>
          <a:bodyPr wrap="square" lIns="0" rIns="0" tIns="0">
            <a:spAutoFit/>
          </a:bodyPr>
          <a:lstStyle/>
          <a:p>
            <a:pPr algn="ctr">
              <a:spcAft>
                <a:spcPts val="800"/>
              </a:spcAft>
            </a:pPr>
            <a:r>
              <a:rPr sz="1600" b="1">
                <a:solidFill>
                  <a:srgbClr val="FFFFFF"/>
                </a:solidFill>
                <a:latin typeface="Aptos"/>
              </a:rPr>
              <a:t>Safety</a:t>
            </a:r>
          </a:p>
        </p:txBody>
      </p:sp>
      <p:sp>
        <p:nvSpPr>
          <p:cNvPr id="14" name="Trapezoid 13"/>
          <p:cNvSpPr/>
          <p:nvPr/>
        </p:nvSpPr>
        <p:spPr>
          <a:xfrm>
            <a:off x="457200" y="4645152"/>
            <a:ext cx="5852160" cy="576072"/>
          </a:xfrm>
          <a:prstGeom prst="trapezoid">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782312"/>
            <a:ext cx="5669280" cy="320040"/>
          </a:xfrm>
          <a:prstGeom prst="rect">
            <a:avLst/>
          </a:prstGeom>
          <a:noFill/>
        </p:spPr>
        <p:txBody>
          <a:bodyPr wrap="square" lIns="0" rIns="0" tIns="0">
            <a:spAutoFit/>
          </a:bodyPr>
          <a:lstStyle/>
          <a:p>
            <a:pPr algn="ctr">
              <a:spcAft>
                <a:spcPts val="800"/>
              </a:spcAft>
            </a:pPr>
            <a:r>
              <a:rPr sz="1600" b="1">
                <a:solidFill>
                  <a:srgbClr val="FFFFFF"/>
                </a:solidFill>
                <a:latin typeface="Aptos"/>
              </a:rPr>
              <a:t>Physiological needs</a:t>
            </a:r>
          </a:p>
        </p:txBody>
      </p:sp>
      <p:sp>
        <p:nvSpPr>
          <p:cNvPr id="16" name="TextBox 15"/>
          <p:cNvSpPr txBox="1"/>
          <p:nvPr/>
        </p:nvSpPr>
        <p:spPr>
          <a:xfrm>
            <a:off x="7040880" y="2286000"/>
            <a:ext cx="4389120" cy="3291840"/>
          </a:xfrm>
          <a:prstGeom prst="rect">
            <a:avLst/>
          </a:prstGeom>
          <a:noFill/>
        </p:spPr>
        <p:txBody>
          <a:bodyPr wrap="square" lIns="0" rIns="0" tIns="0">
            <a:spAutoFit/>
          </a:bodyPr>
          <a:lstStyle/>
          <a:p>
            <a:pPr algn="l">
              <a:spcAft>
                <a:spcPts val="800"/>
              </a:spcAft>
            </a:pPr>
            <a:r>
              <a:rPr sz="2400" b="0">
                <a:solidFill>
                  <a:srgbClr val="152A3A"/>
                </a:solidFill>
                <a:latin typeface="Aptos"/>
              </a:rPr>
              <a:t>Needs can overlap and vary by context.</a:t>
            </a:r>
          </a:p>
          <a:p>
            <a:pPr algn="l">
              <a:spcAft>
                <a:spcPts val="800"/>
              </a:spcAft>
            </a:pPr>
            <a:r>
              <a:rPr sz="2400" b="0">
                <a:solidFill>
                  <a:srgbClr val="152A3A"/>
                </a:solidFill>
                <a:latin typeface="Aptos"/>
              </a:rPr>
              <a:t/>
            </a:r>
          </a:p>
          <a:p>
            <a:pPr algn="l">
              <a:spcAft>
                <a:spcPts val="800"/>
              </a:spcAft>
            </a:pPr>
            <a:r>
              <a:rPr sz="2400" b="0">
                <a:solidFill>
                  <a:srgbClr val="152A3A"/>
                </a:solidFill>
                <a:latin typeface="Aptos"/>
              </a:rPr>
              <a:t>Ask which work conditions or needs require attention. Do not treat the hierarchy as a fixed sequence for every person.</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Maslow's Hierarchy of Needs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Maslow's model groups needs as physiological, safety, belonging, esteem and self-actualisation. It is often shown as a hierarchy.</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Use it to ask whether basic conditions, security, connection or growth need attention. Needs overlap and do not follow a fixed sequence for every person.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Example: offering a stretch assignment may not help someone whose schedule repeatedly prevents rest or who feels unsafe speaking up.</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TEACHING CLARIFICATION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Use motivation theories as discussion lenses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People’s needs can overlap and vary with context. A hierarchy is not a diagnostic tool or a fixed sequence for every employee.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Ask about actual work conditions, resources and what matters to the person before choosing a support action.</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MOTIVATION MODEL · DISCUSSION LENS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Herzberg's Two-Factor Theory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165</a:t>
            </a:r>
          </a:p>
        </p:txBody>
      </p:sp>
      <p:sp>
        <p:nvSpPr>
          <p:cNvPr id="6" name="Rectangle 5"/>
          <p:cNvSpPr/>
          <p:nvPr/>
        </p:nvSpPr>
        <p:spPr>
          <a:xfrm>
            <a:off x="640080" y="2103120"/>
            <a:ext cx="5120640" cy="320040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23160"/>
            <a:ext cx="4572000" cy="914400"/>
          </a:xfrm>
          <a:prstGeom prst="rect">
            <a:avLst/>
          </a:prstGeom>
          <a:noFill/>
        </p:spPr>
        <p:txBody>
          <a:bodyPr wrap="square" lIns="0" rIns="0" tIns="0">
            <a:spAutoFit/>
          </a:bodyPr>
          <a:lstStyle/>
          <a:p>
            <a:pPr algn="l">
              <a:spcAft>
                <a:spcPts val="800"/>
              </a:spcAft>
            </a:pPr>
            <a:r>
              <a:rPr sz="3000" b="1">
                <a:solidFill>
                  <a:srgbClr val="42734A"/>
                </a:solidFill>
                <a:latin typeface="Aptos"/>
              </a:rPr>
              <a:t>Hygiene factors</a:t>
            </a:r>
          </a:p>
        </p:txBody>
      </p:sp>
      <p:sp>
        <p:nvSpPr>
          <p:cNvPr id="8" name="TextBox 7"/>
          <p:cNvSpPr txBox="1"/>
          <p:nvPr/>
        </p:nvSpPr>
        <p:spPr>
          <a:xfrm>
            <a:off x="914400" y="3337560"/>
            <a:ext cx="4572000" cy="1874519"/>
          </a:xfrm>
          <a:prstGeom prst="rect">
            <a:avLst/>
          </a:prstGeom>
          <a:noFill/>
        </p:spPr>
        <p:txBody>
          <a:bodyPr wrap="square" lIns="0" rIns="0" tIns="0">
            <a:spAutoFit/>
          </a:bodyPr>
          <a:lstStyle/>
          <a:p>
            <a:pPr algn="l">
              <a:spcAft>
                <a:spcPts val="800"/>
              </a:spcAft>
            </a:pPr>
            <a:r>
              <a:rPr sz="2000" b="0">
                <a:solidFill>
                  <a:srgbClr val="152A3A"/>
                </a:solidFill>
                <a:latin typeface="Aptos"/>
              </a:rPr>
              <a:t>Conditions, policies and supervision</a:t>
            </a:r>
          </a:p>
          <a:p>
            <a:pPr algn="l">
              <a:spcAft>
                <a:spcPts val="800"/>
              </a:spcAft>
            </a:pPr>
            <a:r>
              <a:rPr sz="2000" b="0">
                <a:solidFill>
                  <a:srgbClr val="152A3A"/>
                </a:solidFill>
                <a:latin typeface="Aptos"/>
              </a:rPr>
              <a:t/>
            </a:r>
          </a:p>
          <a:p>
            <a:pPr algn="l">
              <a:spcAft>
                <a:spcPts val="800"/>
              </a:spcAft>
            </a:pPr>
            <a:r>
              <a:rPr sz="2000" b="0">
                <a:solidFill>
                  <a:srgbClr val="152A3A"/>
                </a:solidFill>
                <a:latin typeface="Aptos"/>
              </a:rPr>
              <a:t>Address sources of dissatisfaction.</a:t>
            </a:r>
          </a:p>
        </p:txBody>
      </p:sp>
      <p:sp>
        <p:nvSpPr>
          <p:cNvPr id="9" name="Rectangle 8"/>
          <p:cNvSpPr/>
          <p:nvPr/>
        </p:nvSpPr>
        <p:spPr>
          <a:xfrm>
            <a:off x="6400800" y="2103120"/>
            <a:ext cx="5120640" cy="320040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2423160"/>
            <a:ext cx="4572000" cy="914400"/>
          </a:xfrm>
          <a:prstGeom prst="rect">
            <a:avLst/>
          </a:prstGeom>
          <a:noFill/>
        </p:spPr>
        <p:txBody>
          <a:bodyPr wrap="square" lIns="0" rIns="0" tIns="0">
            <a:spAutoFit/>
          </a:bodyPr>
          <a:lstStyle/>
          <a:p>
            <a:pPr algn="l">
              <a:spcAft>
                <a:spcPts val="800"/>
              </a:spcAft>
            </a:pPr>
            <a:r>
              <a:rPr sz="3000" b="1">
                <a:solidFill>
                  <a:srgbClr val="42734A"/>
                </a:solidFill>
                <a:latin typeface="Aptos"/>
              </a:rPr>
              <a:t>Motivators</a:t>
            </a:r>
          </a:p>
        </p:txBody>
      </p:sp>
      <p:sp>
        <p:nvSpPr>
          <p:cNvPr id="11" name="TextBox 10"/>
          <p:cNvSpPr txBox="1"/>
          <p:nvPr/>
        </p:nvSpPr>
        <p:spPr>
          <a:xfrm>
            <a:off x="6675120" y="3337560"/>
            <a:ext cx="4572000" cy="1874519"/>
          </a:xfrm>
          <a:prstGeom prst="rect">
            <a:avLst/>
          </a:prstGeom>
          <a:noFill/>
        </p:spPr>
        <p:txBody>
          <a:bodyPr wrap="square" lIns="0" rIns="0" tIns="0">
            <a:spAutoFit/>
          </a:bodyPr>
          <a:lstStyle/>
          <a:p>
            <a:pPr algn="l">
              <a:spcAft>
                <a:spcPts val="800"/>
              </a:spcAft>
            </a:pPr>
            <a:r>
              <a:rPr sz="2000" b="0">
                <a:solidFill>
                  <a:srgbClr val="152A3A"/>
                </a:solidFill>
                <a:latin typeface="Aptos"/>
              </a:rPr>
              <a:t>Achievement, responsibility and meaningful work</a:t>
            </a:r>
          </a:p>
          <a:p>
            <a:pPr algn="l">
              <a:spcAft>
                <a:spcPts val="800"/>
              </a:spcAft>
            </a:pPr>
            <a:r>
              <a:rPr sz="2000" b="0">
                <a:solidFill>
                  <a:srgbClr val="152A3A"/>
                </a:solidFill>
                <a:latin typeface="Aptos"/>
              </a:rPr>
              <a:t/>
            </a:r>
          </a:p>
          <a:p>
            <a:pPr algn="l">
              <a:spcAft>
                <a:spcPts val="800"/>
              </a:spcAft>
            </a:pPr>
            <a:r>
              <a:rPr sz="2000" b="0">
                <a:solidFill>
                  <a:srgbClr val="152A3A"/>
                </a:solidFill>
                <a:latin typeface="Aptos"/>
              </a:rPr>
              <a:t>Explore opportunities for satisfaction and growth.</a:t>
            </a:r>
          </a:p>
        </p:txBody>
      </p:sp>
      <p:sp>
        <p:nvSpPr>
          <p:cNvPr id="12" name="TextBox 11"/>
          <p:cNvSpPr txBox="1"/>
          <p:nvPr/>
        </p:nvSpPr>
        <p:spPr>
          <a:xfrm>
            <a:off x="640080" y="5669280"/>
            <a:ext cx="10789920" cy="502920"/>
          </a:xfrm>
          <a:prstGeom prst="rect">
            <a:avLst/>
          </a:prstGeom>
          <a:noFill/>
        </p:spPr>
        <p:txBody>
          <a:bodyPr wrap="square" lIns="0" rIns="0" tIns="0">
            <a:spAutoFit/>
          </a:bodyPr>
          <a:lstStyle/>
          <a:p>
            <a:pPr algn="l">
              <a:spcAft>
                <a:spcPts val="800"/>
              </a:spcAft>
            </a:pPr>
            <a:r>
              <a:rPr sz="1900" b="0">
                <a:solidFill>
                  <a:srgbClr val="526474"/>
                </a:solidFill>
                <a:latin typeface="Aptos"/>
              </a:rPr>
              <a:t>Check the person and context; use the distinction as a lens rather than a prediction.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Herzberg's Two-Factor Theory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Herzberg distinguishes hygiene factors, such as conditions and policy, from motivators such as achievement, responsibility and meaningful work.</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Improving poor conditions can reduce dissatisfaction, while richer work and recognition may support satisfaction. Treat this as a lens, not a rule that predicts each employee.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Example: fix an unreliable work system, then ask what responsibility or development opportunity would make the task more meaningful.</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MOTIVATION MODEL · DISCUSSION LENS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Self-Determination Theory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167</a:t>
            </a:r>
          </a:p>
        </p:txBody>
      </p:sp>
      <p:sp>
        <p:nvSpPr>
          <p:cNvPr id="6" name="Oval 5"/>
          <p:cNvSpPr/>
          <p:nvPr/>
        </p:nvSpPr>
        <p:spPr>
          <a:xfrm>
            <a:off x="640080" y="2148840"/>
            <a:ext cx="3200400" cy="1554480"/>
          </a:xfrm>
          <a:prstGeom prst="ellipse">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715768"/>
            <a:ext cx="2834640" cy="640080"/>
          </a:xfrm>
          <a:prstGeom prst="rect">
            <a:avLst/>
          </a:prstGeom>
          <a:noFill/>
        </p:spPr>
        <p:txBody>
          <a:bodyPr wrap="square" lIns="0" rIns="0" tIns="0">
            <a:spAutoFit/>
          </a:bodyPr>
          <a:lstStyle/>
          <a:p>
            <a:pPr algn="ctr">
              <a:spcAft>
                <a:spcPts val="800"/>
              </a:spcAft>
            </a:pPr>
            <a:r>
              <a:rPr sz="2400" b="1">
                <a:solidFill>
                  <a:srgbClr val="FFFFFF"/>
                </a:solidFill>
                <a:latin typeface="Aptos"/>
              </a:rPr>
              <a:t>Autonomy</a:t>
            </a:r>
          </a:p>
        </p:txBody>
      </p:sp>
      <p:sp>
        <p:nvSpPr>
          <p:cNvPr id="8" name="TextBox 7"/>
          <p:cNvSpPr txBox="1"/>
          <p:nvPr/>
        </p:nvSpPr>
        <p:spPr>
          <a:xfrm>
            <a:off x="640080" y="4160520"/>
            <a:ext cx="3200400" cy="1508760"/>
          </a:xfrm>
          <a:prstGeom prst="rect">
            <a:avLst/>
          </a:prstGeom>
          <a:noFill/>
        </p:spPr>
        <p:txBody>
          <a:bodyPr wrap="square" lIns="0" rIns="0" tIns="0">
            <a:spAutoFit/>
          </a:bodyPr>
          <a:lstStyle/>
          <a:p>
            <a:pPr algn="ctr">
              <a:spcAft>
                <a:spcPts val="800"/>
              </a:spcAft>
            </a:pPr>
            <a:r>
              <a:rPr sz="2400" b="1">
                <a:solidFill>
                  <a:srgbClr val="152A3A"/>
                </a:solidFill>
                <a:latin typeface="Aptos"/>
              </a:rPr>
              <a:t>Choice within clear boundaries</a:t>
            </a:r>
          </a:p>
        </p:txBody>
      </p:sp>
      <p:sp>
        <p:nvSpPr>
          <p:cNvPr id="9" name="Oval 8"/>
          <p:cNvSpPr/>
          <p:nvPr/>
        </p:nvSpPr>
        <p:spPr>
          <a:xfrm>
            <a:off x="4480560" y="2148840"/>
            <a:ext cx="3200400" cy="1554480"/>
          </a:xfrm>
          <a:prstGeom prst="ellipse">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715768"/>
            <a:ext cx="2834640" cy="640080"/>
          </a:xfrm>
          <a:prstGeom prst="rect">
            <a:avLst/>
          </a:prstGeom>
          <a:noFill/>
        </p:spPr>
        <p:txBody>
          <a:bodyPr wrap="square" lIns="0" rIns="0" tIns="0">
            <a:spAutoFit/>
          </a:bodyPr>
          <a:lstStyle/>
          <a:p>
            <a:pPr algn="ctr">
              <a:spcAft>
                <a:spcPts val="800"/>
              </a:spcAft>
            </a:pPr>
            <a:r>
              <a:rPr sz="2400" b="1">
                <a:solidFill>
                  <a:srgbClr val="FFFFFF"/>
                </a:solidFill>
                <a:latin typeface="Aptos"/>
              </a:rPr>
              <a:t>Competence</a:t>
            </a:r>
          </a:p>
        </p:txBody>
      </p:sp>
      <p:sp>
        <p:nvSpPr>
          <p:cNvPr id="11" name="TextBox 10"/>
          <p:cNvSpPr txBox="1"/>
          <p:nvPr/>
        </p:nvSpPr>
        <p:spPr>
          <a:xfrm>
            <a:off x="4480560" y="4160520"/>
            <a:ext cx="3200400" cy="1508760"/>
          </a:xfrm>
          <a:prstGeom prst="rect">
            <a:avLst/>
          </a:prstGeom>
          <a:noFill/>
        </p:spPr>
        <p:txBody>
          <a:bodyPr wrap="square" lIns="0" rIns="0" tIns="0">
            <a:spAutoFit/>
          </a:bodyPr>
          <a:lstStyle/>
          <a:p>
            <a:pPr algn="ctr">
              <a:spcAft>
                <a:spcPts val="800"/>
              </a:spcAft>
            </a:pPr>
            <a:r>
              <a:rPr sz="2400" b="1">
                <a:solidFill>
                  <a:srgbClr val="152A3A"/>
                </a:solidFill>
                <a:latin typeface="Aptos"/>
              </a:rPr>
              <a:t>Effective action, practice and growth</a:t>
            </a:r>
          </a:p>
        </p:txBody>
      </p:sp>
      <p:sp>
        <p:nvSpPr>
          <p:cNvPr id="12" name="Oval 11"/>
          <p:cNvSpPr/>
          <p:nvPr/>
        </p:nvSpPr>
        <p:spPr>
          <a:xfrm>
            <a:off x="8321040" y="2148840"/>
            <a:ext cx="3200400" cy="1554480"/>
          </a:xfrm>
          <a:prstGeom prst="ellipse">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19" y="2715768"/>
            <a:ext cx="2834640" cy="640080"/>
          </a:xfrm>
          <a:prstGeom prst="rect">
            <a:avLst/>
          </a:prstGeom>
          <a:noFill/>
        </p:spPr>
        <p:txBody>
          <a:bodyPr wrap="square" lIns="0" rIns="0" tIns="0">
            <a:spAutoFit/>
          </a:bodyPr>
          <a:lstStyle/>
          <a:p>
            <a:pPr algn="ctr">
              <a:spcAft>
                <a:spcPts val="800"/>
              </a:spcAft>
            </a:pPr>
            <a:r>
              <a:rPr sz="2400" b="1">
                <a:solidFill>
                  <a:srgbClr val="FFFFFF"/>
                </a:solidFill>
                <a:latin typeface="Aptos"/>
              </a:rPr>
              <a:t>Relatedness</a:t>
            </a:r>
          </a:p>
        </p:txBody>
      </p:sp>
      <p:sp>
        <p:nvSpPr>
          <p:cNvPr id="14" name="TextBox 13"/>
          <p:cNvSpPr txBox="1"/>
          <p:nvPr/>
        </p:nvSpPr>
        <p:spPr>
          <a:xfrm>
            <a:off x="8321040" y="4160520"/>
            <a:ext cx="3200400" cy="1508760"/>
          </a:xfrm>
          <a:prstGeom prst="rect">
            <a:avLst/>
          </a:prstGeom>
          <a:noFill/>
        </p:spPr>
        <p:txBody>
          <a:bodyPr wrap="square" lIns="0" rIns="0" tIns="0">
            <a:spAutoFit/>
          </a:bodyPr>
          <a:lstStyle/>
          <a:p>
            <a:pPr algn="ctr">
              <a:spcAft>
                <a:spcPts val="800"/>
              </a:spcAft>
            </a:pPr>
            <a:r>
              <a:rPr sz="2400" b="1">
                <a:solidFill>
                  <a:srgbClr val="152A3A"/>
                </a:solidFill>
                <a:latin typeface="Aptos"/>
              </a:rPr>
              <a:t>Connection and belonging</a:t>
            </a:r>
          </a:p>
        </p:txBody>
      </p:sp>
      <p:sp>
        <p:nvSpPr>
          <p:cNvPr id="15" name="TextBox 14"/>
          <p:cNvSpPr txBox="1"/>
          <p:nvPr/>
        </p:nvSpPr>
        <p:spPr>
          <a:xfrm>
            <a:off x="640080" y="5943600"/>
            <a:ext cx="10789920" cy="320040"/>
          </a:xfrm>
          <a:prstGeom prst="rect">
            <a:avLst/>
          </a:prstGeom>
          <a:noFill/>
        </p:spPr>
        <p:txBody>
          <a:bodyPr wrap="square" lIns="0" rIns="0" tIns="0">
            <a:spAutoFit/>
          </a:bodyPr>
          <a:lstStyle/>
          <a:p>
            <a:pPr algn="l">
              <a:spcAft>
                <a:spcPts val="800"/>
              </a:spcAft>
            </a:pPr>
            <a:r>
              <a:rPr sz="1900" b="0">
                <a:solidFill>
                  <a:srgbClr val="526474"/>
                </a:solidFill>
                <a:latin typeface="Aptos"/>
              </a:rPr>
              <a:t>Ask what would help this person experience each need in the work.</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Self-Determination Theory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Self-determination theory highlights autonomy, competence and relatedness as psychological needs that can support motivation.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Autonomy means a sense of choice within clear boundaries; competence involves effective action and growth; relatedness involves connection and belonging.</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Example: agree the required quality standard, let the colleague choose a method, provide practice feedback and connect their contribution to the team's purpose.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Factors that Affect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169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Personal values and goals: Personal values and goals can strongly influence motivation. When an individual's values and goals are aligned with their work or other activities, they are more likely to be motivated.</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Self-efficacy: The belief in one's ability to accomplish tasks can have a significant impact on motivation. When an individual feels confident in their abilities, they are more likely to be motivated to take on challenging tasks.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Factors that Affect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170</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Rewards and incentives: Rewards and incentives, such as bonuses, promotions, or recognition, can motivate individuals to work harder and achieve more.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Feedback and recognition: Positive feedback and recognition for a job well done can increase motivation, while negative feedback or lack of recognition can decrease motivation.</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Factors that Affect Motivation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Organizational culture and leadership: Organizational culture and leadership style can impact motivation.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A positive and supportive work culture and leadership style can enhance motivation, while a negative or unsupportive work culture or leadership style can decrease motivation.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Stress and workload: Excessive stress and workload can lead to burnout and decrease motivation, while appropriate levels of stress and workload can enhance motivation.</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Motivating Others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Set clear goals and expectations: Clear and specific goals help individuals to focus their efforts and understand what is expected of them. This helps to increase motivation by providing a sense of direction and purpose.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Provide feedback and recognition: Positive feedback and recognition for a job well done can increase motivation and encourage individuals to continue to perform well.</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Offer rewards and incentives: Rewards and incentives can motivate individuals to work harder and achieve more. These can include bonuses, promotions, or other forms of recognition.</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Motivating Others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Encourage learning and development: Providing opportunities for learning and development can increase motivation by allowing individuals to develop new skills and knowledge.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Foster a positive work environment: A positive work environment can enhance motivation by promoting a sense of teamwork, trust, and respect.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This includes promoting work-life balance, providing a safe and healthy work environment, and encouraging open communication.</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Motivating Others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174</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Lead by example: Leaders who exhibit positive behaviors, such as enthusiasm, dedication, and a strong work ethic, can motivate others to do the same.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Provide opportunities for autonomy and decision-making: Giving individuals a sense of autonomy and decision-making power can increase motivation by allowing them to take ownership of their work and feel a sense of control over their tasks.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Setting SMART goals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Specific: Define your goal in specific terms. What exactly do you want to achieve? Be clear and concise.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Measurable: Make sure your goal is measurable, so that you can track your progress and determine whether you have achieved it. Set clear metrics to measure your success.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Achievable: Your goal should be realistic and attainable. Consider your resources, skills, and abilities, and make sure your goal is challenging but also achievable.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Setting SMART goals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176</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Relevant: Your goal should be relevant to your overall objectives and aspirations. It should align with your values, passions, and long-term goals.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Time-bound: Set a specific deadline for achieving your goal. This will help you stay motivated and focused, and will also allow you to measure your progress.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Performance can be defined as the measurable output or results of an individual or organization's actions or efforts in achieving their goals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It can be used to identify areas for improvement, adjust strategies and actions, and make necessary changes to ensure success.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Therefore, performance is a critical factor in achieving goals and success, and it provides valuable feedback on the effectiveness of one's efforts and actions.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Factors that affect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Skills and abilities: An individual's skills and abilities can affect their performance. If an individual does not possess the necessary skills and abilities to perform a task, their performance may suffer.</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Motivation: Motivation is a key factor that can impact performance. Individuals who are motivated to achieve their goals are more likely to perform well.</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Training and development: Training and development can enhance an individual's skills and abilities, which can improve their performance.</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Factors that affect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179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Resources: The availability of resources, such as equipment, tools, and technology, can affect performance. If an individual does not have access to the necessary resources, their performance may suffer.</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Work environment: The work environment can have a significant impact on performance. A positive work environment that promotes teamwork, communication, and support can enhance performance.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Factors that affect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180</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Feedback and recognition: Providing feedback and recognition for a job well done can increase motivation and enhance performance.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Workload and stress: Excessive workload and stress can lead to burnout and decrease performance. Appropriate levels of workload and stress can enhance performance.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Improving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Goal Setting: Setting specific, measurable, attainable, relevant, and time-bound goals can help to focus efforts and provide motivation for improving performance.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Time Management: Managing time effectively can help to reduce stress, increase productivity, and improve overall performance.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Improving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182</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Prioritization: Prioritizing tasks based on importance and urgency can help to ensure that the most critical tasks are completed first and that resources are allocated effectively</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Communication: Effective communication skills can improve collaboration, reduce misunderstandings, and increase overall performance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04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Improving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Feedback and Evaluation: Receiving and providing feedback can help to identify areas for improvement and track progress toward performance goals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Continuous Learning: Engaging in ongoing learning and development can improve knowledge, skills, and abilities, and increase overall performance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Motivation needs a work diagnosis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184</a:t>
            </a:r>
          </a:p>
        </p:txBody>
      </p:sp>
      <p:sp>
        <p:nvSpPr>
          <p:cNvPr id="6" name="Rounded Rectangle 5"/>
          <p:cNvSpPr/>
          <p:nvPr/>
        </p:nvSpPr>
        <p:spPr>
          <a:xfrm>
            <a:off x="548640"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Purpose</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Autonomy</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Capability</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Connection</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The original deck covers intrinsic and extrinsic motivation, Maslow, Herzberg and self-determination theory. Use these as lenses for asking questions, not as a universal checklist that predicts every person.</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WORKED EXAMPLE · ORIGINAL TEACHING SYNTHESIS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Motivation needs a work diagnosis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Poor performance can arise from unclear expectations, missing resources or an unrealistic workload rather than low effort. Ask the person what helps them do good work.</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Meridian's analyst values mastery, so the manager pairs a stretch assignment with coaching and protected practice time. Recognition should describe a contribution and its impact.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 reward alone cannot repair a work system that repeatedly frustrates people.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Goals connect purpose to delivery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186</a:t>
            </a:r>
          </a:p>
        </p:txBody>
      </p:sp>
      <p:sp>
        <p:nvSpPr>
          <p:cNvPr id="6" name="Rounded Rectangle 5"/>
          <p:cNvSpPr/>
          <p:nvPr/>
        </p:nvSpPr>
        <p:spPr>
          <a:xfrm>
            <a:off x="548640"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Outcome</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Measure</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Owner</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Review date</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A meaningful goal translates purpose into an observable result. A target must specify the measure, starting point and time period.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WORKED EXAMPLE · UCD</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Goals connect purpose to delivery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Meridian aims to reduce incomplete handovers from 18 of 100 cases to at most 8 of 100 within four weeks. The example is fictional.</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Track a balancing measure such as time spent per handover so improvement does not simply transfer work elsewhere. Let the person help choose a method within clear boundaries.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Review evidence and adjust support instead of assuming that every missed number reflects weak commitment.</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Coaching creates ownership</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188</a:t>
            </a:r>
          </a:p>
        </p:txBody>
      </p:sp>
      <p:sp>
        <p:nvSpPr>
          <p:cNvPr id="6" name="Rounded Rectangle 5"/>
          <p:cNvSpPr/>
          <p:nvPr/>
        </p:nvSpPr>
        <p:spPr>
          <a:xfrm>
            <a:off x="548640"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Goal</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Current reality</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Options</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Commitment</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Coaching helps someone think through a goal and select a next action. Ask what they want to achieve, what is happening now, which options they see and what they will try next.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WORKED EXAMPLE · UCD</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Coaching creates ownership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189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Listen before offering advice. Mentoring can share experience; directing can be appropriate when a clear immediate instruction is needed. Make the choice explicit.</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 Meridian's weekly check-in, the leader asks the analyst to propose two ways to improve data quality and then agrees a small trial.</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The next conversation checks the evidence from the trial, rather than asking only whether the task is finished.</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07: Motivation and SMART Goal Canvas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190</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diagnose barriers and make a useful goal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42734A"/>
                </a:solidFill>
                <a:latin typeface="Aptos"/>
              </a:rPr>
              <a:t>Finished result: A completed motivation and smart goal canvas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42734A"/>
                </a:solidFill>
                <a:latin typeface="Aptos"/>
              </a:rPr>
              <a:t>Apply the concepts</a:t>
            </a:r>
          </a:p>
          <a:p>
            <a:pPr algn="l">
              <a:spcAft>
                <a:spcPts val="800"/>
              </a:spcAft>
            </a:pPr>
            <a:r>
              <a:rPr sz="2400" b="1">
                <a:solidFill>
                  <a:srgbClr val="42734A"/>
                </a:solidFill>
                <a:latin typeface="Aptos"/>
              </a:rPr>
              <a:t>Compare perspectives</a:t>
            </a:r>
          </a:p>
          <a:p>
            <a:pPr algn="l">
              <a:spcAft>
                <a:spcPts val="800"/>
              </a:spcAft>
            </a:pPr>
            <a:r>
              <a:rPr sz="2400" b="1">
                <a:solidFill>
                  <a:srgbClr val="42734A"/>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OPTIONAL DISCUSSION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Original practice context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191</a:t>
            </a:r>
          </a:p>
        </p:txBody>
      </p:sp>
      <p:sp>
        <p:nvSpPr>
          <p:cNvPr id="6" name="TextBox 5"/>
          <p:cNvSpPr txBox="1"/>
          <p:nvPr/>
        </p:nvSpPr>
        <p:spPr>
          <a:xfrm>
            <a:off x="685800" y="2331720"/>
            <a:ext cx="7498079" cy="2377440"/>
          </a:xfrm>
          <a:prstGeom prst="rect">
            <a:avLst/>
          </a:prstGeom>
          <a:noFill/>
        </p:spPr>
        <p:txBody>
          <a:bodyPr wrap="square" lIns="0" rIns="0" tIns="0">
            <a:spAutoFit/>
          </a:bodyPr>
          <a:lstStyle/>
          <a:p>
            <a:pPr algn="l">
              <a:spcAft>
                <a:spcPts val="800"/>
              </a:spcAft>
            </a:pPr>
            <a:r>
              <a:rPr sz="3200" b="1">
                <a:solidFill>
                  <a:srgbClr val="42734A"/>
                </a:solidFill>
                <a:latin typeface="Aptos"/>
              </a:rPr>
              <a:t>Set a SMART goal for yourself on one thing you want to achieve this year.</a:t>
            </a:r>
          </a:p>
        </p:txBody>
      </p:sp>
      <p:sp>
        <p:nvSpPr>
          <p:cNvPr id="7" name="Oval 6"/>
          <p:cNvSpPr/>
          <p:nvPr/>
        </p:nvSpPr>
        <p:spPr>
          <a:xfrm>
            <a:off x="8778240" y="2240280"/>
            <a:ext cx="2240280" cy="224028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9372600" y="2834640"/>
            <a:ext cx="1005840" cy="1005840"/>
          </a:xfrm>
          <a:prstGeom prst="chevron">
            <a:avLst/>
          </a:prstGeom>
          <a:solidFill>
            <a:srgbClr val="427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349240"/>
            <a:ext cx="9784080" cy="548640"/>
          </a:xfrm>
          <a:prstGeom prst="rect">
            <a:avLst/>
          </a:prstGeom>
          <a:noFill/>
        </p:spPr>
        <p:txBody>
          <a:bodyPr wrap="square" lIns="0" rIns="0" tIns="0">
            <a:spAutoFit/>
          </a:bodyPr>
          <a:lstStyle/>
          <a:p>
            <a:pPr algn="l">
              <a:spcAft>
                <a:spcPts val="800"/>
              </a:spcAft>
            </a:pPr>
            <a:r>
              <a:rPr sz="1800" b="0">
                <a:solidFill>
                  <a:srgbClr val="526474"/>
                </a:solidFill>
                <a:latin typeface="Aptos"/>
              </a:rPr>
              <a:t>Discuss the behaviour and its effect in a real work situation.</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08: Coaching and Performance Conversation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192</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create ownership through questions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42734A"/>
                </a:solidFill>
                <a:latin typeface="Aptos"/>
              </a:rPr>
              <a:t>Finished result: A completed coaching and performance conversation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42734A"/>
                </a:solidFill>
                <a:latin typeface="Aptos"/>
              </a:rPr>
              <a:t>Apply the concepts</a:t>
            </a:r>
          </a:p>
          <a:p>
            <a:pPr algn="l">
              <a:spcAft>
                <a:spcPts val="800"/>
              </a:spcAft>
            </a:pPr>
            <a:r>
              <a:rPr sz="2400" b="1">
                <a:solidFill>
                  <a:srgbClr val="42734A"/>
                </a:solidFill>
                <a:latin typeface="Aptos"/>
              </a:rPr>
              <a:t>Compare perspectives</a:t>
            </a:r>
          </a:p>
          <a:p>
            <a:pPr algn="l">
              <a:spcAft>
                <a:spcPts val="800"/>
              </a:spcAft>
            </a:pPr>
            <a:r>
              <a:rPr sz="2400" b="1">
                <a:solidFill>
                  <a:srgbClr val="42734A"/>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42734A"/>
                </a:solidFill>
                <a:latin typeface="Aptos"/>
              </a:rPr>
              <a:t>TOPIC RECAP</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Recap: Motivation and Performance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LO4: Create meaningful goals and coach someone toward better performance.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Explain your choice with evidence, name a trade-off and record a review point.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42734A"/>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Which behaviour will you keep practising after today?</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and Negotiation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194</a:t>
            </a:r>
          </a:p>
        </p:txBody>
      </p:sp>
      <p:sp>
        <p:nvSpPr>
          <p:cNvPr id="6" name="Oval 5"/>
          <p:cNvSpPr/>
          <p:nvPr/>
        </p:nvSpPr>
        <p:spPr>
          <a:xfrm>
            <a:off x="7955279" y="2011680"/>
            <a:ext cx="3566160" cy="356616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2514600"/>
            <a:ext cx="2926080" cy="1828800"/>
          </a:xfrm>
          <a:prstGeom prst="rect">
            <a:avLst/>
          </a:prstGeom>
          <a:noFill/>
        </p:spPr>
        <p:txBody>
          <a:bodyPr wrap="square" lIns="0" rIns="0" tIns="0">
            <a:spAutoFit/>
          </a:bodyPr>
          <a:lstStyle/>
          <a:p>
            <a:pPr algn="ctr">
              <a:spcAft>
                <a:spcPts val="800"/>
              </a:spcAft>
            </a:pPr>
            <a:r>
              <a:rPr sz="10000" b="1">
                <a:solidFill>
                  <a:srgbClr val="835165"/>
                </a:solidFill>
                <a:latin typeface="Aptos"/>
              </a:rPr>
              <a:t>05</a:t>
            </a:r>
          </a:p>
        </p:txBody>
      </p:sp>
      <p:sp>
        <p:nvSpPr>
          <p:cNvPr id="8" name="TextBox 7"/>
          <p:cNvSpPr txBox="1"/>
          <p:nvPr/>
        </p:nvSpPr>
        <p:spPr>
          <a:xfrm>
            <a:off x="594360" y="2331720"/>
            <a:ext cx="6766560" cy="1554480"/>
          </a:xfrm>
          <a:prstGeom prst="rect">
            <a:avLst/>
          </a:prstGeom>
          <a:noFill/>
        </p:spPr>
        <p:txBody>
          <a:bodyPr wrap="square" lIns="0" rIns="0" tIns="0">
            <a:spAutoFit/>
          </a:bodyPr>
          <a:lstStyle/>
          <a:p>
            <a:pPr algn="l">
              <a:spcAft>
                <a:spcPts val="800"/>
              </a:spcAft>
            </a:pPr>
            <a:r>
              <a:rPr sz="2900" b="0">
                <a:solidFill>
                  <a:srgbClr val="152A3A"/>
                </a:solidFill>
                <a:latin typeface="Aptos"/>
              </a:rPr>
              <a:t>Conflict patterns, interests, options and emotional steadiness</a:t>
            </a:r>
          </a:p>
        </p:txBody>
      </p:sp>
      <p:sp>
        <p:nvSpPr>
          <p:cNvPr id="9" name="TextBox 8"/>
          <p:cNvSpPr txBox="1"/>
          <p:nvPr/>
        </p:nvSpPr>
        <p:spPr>
          <a:xfrm>
            <a:off x="594360" y="4754880"/>
            <a:ext cx="6766560" cy="640080"/>
          </a:xfrm>
          <a:prstGeom prst="rect">
            <a:avLst/>
          </a:prstGeom>
          <a:noFill/>
        </p:spPr>
        <p:txBody>
          <a:bodyPr wrap="square" lIns="0" rIns="0" tIns="0">
            <a:spAutoFit/>
          </a:bodyPr>
          <a:lstStyle/>
          <a:p>
            <a:pPr algn="l">
              <a:spcAft>
                <a:spcPts val="800"/>
              </a:spcAft>
            </a:pPr>
            <a:r>
              <a:rPr sz="2000" b="0">
                <a:solidFill>
                  <a:srgbClr val="526474"/>
                </a:solidFill>
                <a:latin typeface="Aptos"/>
              </a:rPr>
              <a:t>Understand → discuss → practise → reflect</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is conflict and negotiation?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Conflict is a situation where two or more parties have incompatible goals, interests, or opinions, leading to a clash or disagreement.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Negotiation is the process of communication and compromise between parties with conflicting interests, in order to reach a mutually beneficial agreement or resolution.</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Understanding Conflict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196</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It is important to understand different types of conflicts because it helps individuals and groups to effectively manage and resolve conflicts.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Different types of conflicts require different approaches, strategies, and techniques to be resolved.</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Personal Conflict: It is a type of conflict that arises within an individual due to opposing values, beliefs, or desires.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Example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An individual is torn between pursuing their passion and fulfilling their family's expectations.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198</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Organizational Conflict</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 conflict that arises within an organization due to differences in goals, objectives, or resources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Example: A situation where two departments within a company have different goals or priorities that clash with each other.</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For instance, the marketing department may want to invest more resources in promoting a new product, while the finance department may prioritize cost-cutting measures.</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199</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Inter-group Conflict</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 conflict between two or more groups within an organization</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Example: The sales team may focus on aggressive sales tactics to generate revenue, while the customer service team prioritizes building long-term relationships with clients.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This conflict could lead to tensions between the teams, miscommunication, and a lack of cooperation</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Intra-group Conflict</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 conflict within a single group due to differences in opinions or interests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Example: Members of a marketing team may have differing views on the messaging or design for a new advertising campaign. This conflict could lead to disagreements, delays, and a lack of cohesion within the team</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201</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Interpersonal Conflict</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 conflict between two individuals due to differences in opinions, beliefs, or attitudes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Example: One coworker may feel that the other is not contributing enough to a project, while the other may feel that they are being unfairly criticized or micromanaged.</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This conflict could lead to tension, resentment, and a breakdown in communication between the two coworkers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202</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Intrapersonal Conflict</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 conflict that arises within an individual due to conflicting goals or values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Example: A person may have the opportunity to take a high-paying job in a field they are not passionate about, or to continue in a lower-paying job that aligns with their personal interests and values.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This conflict could lead to feelings of uncertainty, anxiety, and indecision within the individual.</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Understanding Causes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Understanding the causes of conflicts is crucial for promoting peace and finding sustainable solutions to complex issues.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By identifying the root causes of conflicts, we can address underlying grievances, prevent future conflicts from arising, and promote reconciliation between conflicting parties.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Miscommunication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Such as misunderstandings, lack of clarity, or different interpretations of information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Example: A manager sent an email to their team with a deadline for a project, but the deadline was not clearly communicated. Some team members assumed that the deadline was flexible, while others believed it was firm.</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As a result, some team members submitted their work late, while others completed it on time.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This miscommunication created tension within the team and caused delays in completing the project, which could have been avoided with clearer communication from the manager.</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Differences in Values or Beliefs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Such as differing opinions on politics, religion, or social issues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Example: The controversy surrounding Chick-fil-A, a fast-food chain based in the United States.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The company's owner, Dan Cathy, is a devout Christian who has publicly spoken out against same-sex marriage and has made donations to organizations that oppose it.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This stance has led to boycotts and protests against the chain, as well as praise and support from others who share the same values.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208</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Scarce Resources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Such as competition for funding, materials, or space</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Example: The shortage of computer chips that has affected many industries in recent years, including the automotive industry, consumer electronics, and home appliances.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The shortage is a result of various factors, including the COVID-19 pandemic, the increasing demand for electronic devices, and supply chain disruptions.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209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Personality Differences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Such as clashes in communication styles, working habits, or attitudes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Example: Extroverted employees may prefer to work in teams or engage in brainstorming sessions, while introverted employees may prefer to work alone or communicate through written channels rather than in-person meetings.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210</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In some cases, these personality differences can lead to conflict, with extroverted employees feeling frustrated by introverted colleagues who do not seem to be contributing as much to the team, and introverted employees feeling</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overwhelmed or overlooked by the more outgoing members of the team.</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211</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Power Struggles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Such as competition for authority or control</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Example: The ongoing feud between Tesla and various state auto dealer associations in the United States.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Tesla's business model involves selling cars directly to consumers through company-owned showrooms, rather than through franchised dealerships, which is the traditional model used by most automakers.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Causes of Conflicts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This has led to conflicts with state auto dealer associations, which have lobbied for laws and regulations that restrict or prohibit Tesla's direct sales model.</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06</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The power struggle between Tesla and the auto dealer associations highlights the tension that can arise when a new entrant disrupts established industry norms, and the challenges that can arise when entrenched interests seek to</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07</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protect their own power and influence.</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Importance of Conflict Resolution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By using effective conflict resolution techniques, businesses can help prevent these negative outcomes and create a more positive and productive work environment.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Conflict resolution techniques can also help improve communication and collaboration among employees, leading to more effective teamwork and better overall performance.</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Collaborating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Working together to find a mutually beneficial solution to the conflict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Example: The partnership between Apple and Nike to create the Nike+ app for Apple's iOS operating system.</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Techniques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The app, which allows users to track their fitness goals and monitor their progress, was developed through a collaborative effort between the two companies.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The collaboration involved sharing expertise and resources to create a product that leverages the strengths of both companies. This can lead to increased innovation, improved performance, and a more positive and productive work environment.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Competing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Asserting one's own needs and goals over others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Example</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Techniques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Coca Cola Vs Pepsi: The competing resolution technique in this example involves each company striving to outperform the other through competition and rivalry.</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While this approach can sometimes lead to negative outcomes, such as excessive marketing spending or negative public relations, it can also lead to positive outcomes such as increased innovation and improved product quality.</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218</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Avoiding</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Avoiding the conflict altogether by withdrawing from the situation</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Example: The lack of action by a manager to address ongoing conflicts between two employees.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The manager may be aware of the conflicts, but chooses to avoid confrontation or taking action to resolve the situation, hoping that the conflicts will resolve themselves over time.</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219</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Compromising</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Involves finding a middle ground by both parties giving up something to reach a solution</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Example: In 2018, American Airlines reached a compromise with its flight attendants union over a new contract.</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The agreement included pay raises and improved benefits for flight attendants, while also addressing the company's concerns around cost control and operational efficiency.</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Accommodating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Involves putting the needs and goals of others before one's own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Example: A manager who agrees to allow an employee to work flexible hours to accommodate their personal needs.</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Resolution Techniques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For example, if an employee has a child with a medical condition that requires frequent doctor's appointments, the manager may allow the employee to work from home or adjust their hours to accommodate these appointments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By showing flexibility and empathy, managers can help employees overcome personal challenges while still maintaining high standards of performance and meeting the needs of the organization.</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Understanding Negotiation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222</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Learning different types of negotiation techniques is important because it allows individuals to be more effective in achieving their goals in a variety of situations.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Negotiation is a key component of both personal and professional relationships, and being skilled in various techniques can help individuals navigate difficult conversations, resolve conflicts, and create mutually beneficial agreements.</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Negotiation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Distributive Negotiation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Involves dividing a fixed amount of resources between the parties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Example: Where two parties are negotiating the price of a car. In this scenario, the seller wants to receive the highest possible price for the car, while the buyer wants to pay the lowest possible price.</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Negotiation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Integrative Negotiation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Involves finding a solution that meets the needs and goals of both parties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Example: Two companies are negotiating a partnership agreement. Such as, both parties want to create a mutually beneficial agreement that meets the needs and interests of both companies.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Negotiation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Cooperative Negotiation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Involves working together to achieve a common goal</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Example: A landlord and tenant are negotiating a lease renewal. Both parties have a strong interest in maintaining a positive ongoing relationship, and are working to find a mutually beneficial solution.</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Negotiation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226</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Competitive Negotiation</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Involves using aggressive tactics to achieve one's own goals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Example: A situation where two companies are bidding for a contract. Both parties work to make their offer more attractive than their competitor's offer.</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Success in this type of negotiation is often determined by the parties' ability to make strategic moves that highlight their strengths and undermine their competitor's position</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Types of Negotiation Techniques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Collaborative Negotiation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Involves working together to create a win-win solution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Example: A group of employees and their manager are negotiating a new policy that will affect their working conditions. In this scenario, both parties have a shared interest in finding a solution that benefits everyone involved.</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Understanding managing difficult conversations and emotions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228</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Knowing how to manage difficult conversations and emotions is important because it helps individuals to communicate effectively in challenging situations, maintain positive relationships, and achieve better outcomes.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Developing these skills can lead to improved communication, stronger relationships, and better outcomes in both personal and professional contexts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Managing difficult conversations and emotions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229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Understanding emotions: Recognize when you/speaker are feeling angry, anxious, or frustrated, and identify the triggers that caused these emotions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How to recognize emotions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Pay attention to non-verbal cues</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Managing difficult conversations and emotions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Label and validate the emotions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Active listening</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06</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Mindfulness</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Managing difficult conversations and emotions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231</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Preparing for the conversation</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Creating a list of talking points or practicing assertiveness techniques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Active Listening</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Full attention</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Managing difficult conversations and emotions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Avoid interrupting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06</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Ask open ended questions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07</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Avoid judgement</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Managing difficult conversations and emotions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Assertiveness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Expressing oneself clearly, standing up for one's own needs, and setting boundaries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Using "I" statements and avoiding accusatory language</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Managing difficult conversations and emotions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04</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Managing Emotions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05</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Deep breathing, taking a break, and reframing the situation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06</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Helping the other person manage their emotions, such as acknowledging their feelings and staying calm</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05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Managing difficult conversations and emotions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Finding Common Ground</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Focusing on shared goals and interests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Brainstorming solutions and using empathy</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From positions to interests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236</a:t>
            </a:r>
          </a:p>
        </p:txBody>
      </p:sp>
      <p:sp>
        <p:nvSpPr>
          <p:cNvPr id="6" name="Rounded Rectangle 5"/>
          <p:cNvSpPr/>
          <p:nvPr/>
        </p:nvSpPr>
        <p:spPr>
          <a:xfrm>
            <a:off x="548640"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Stated demand</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Underlying need</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Possible options</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Fair criteria</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A position is what a party says it wants; an interest is why that outcome matters. Sales asks for a Friday launch while delivery asks for two more weeks.</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WORKED EXAMPLE · ORIGINAL TEACHING SYNTHESIS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From positions to interests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The underlying interests may be keeping a customer commitment and protecting quality. Explore a limited launch or a revised acceptance scope, then compare options using criteria both parties understand.</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Ask questions without assuming the first stated demand is the only acceptable outcome. Some disagreements cannot be resolved by compromise alone; a decision owner may need to choose and explain the reasons.</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responses have trade-offs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238</a:t>
            </a:r>
          </a:p>
        </p:txBody>
      </p:sp>
      <p:sp>
        <p:nvSpPr>
          <p:cNvPr id="6" name="Rounded Rectangle 5"/>
          <p:cNvSpPr/>
          <p:nvPr/>
        </p:nvSpPr>
        <p:spPr>
          <a:xfrm>
            <a:off x="548640"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Address now</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Collaborate</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Accommodate</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Pause with a plan</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Conflict may concern tasks, processes, resources or relationships. A response should fit the stakes and the time available.</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WORKED EXAMPLE · ORIGINAL TEACHING SYNTHESIS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Conflict responses have trade-offs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239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Collaboration can produce a better answer when both parties can participate; a pause helps when emotions prevent a useful discussion, but should include a restart time.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Accommodating a minor preference may preserve energy for a more important issue. Avoidance becomes harmful when it hides recurring damage. A leader should address observable behaviour and its effect, rather than attributing motive.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Use the agreed escalation route when authority, conduct or policy makes peer negotiation insufficient.</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Keep a difficult conversation constructive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240</a:t>
            </a:r>
          </a:p>
        </p:txBody>
      </p:sp>
      <p:sp>
        <p:nvSpPr>
          <p:cNvPr id="6" name="Rounded Rectangle 5"/>
          <p:cNvSpPr/>
          <p:nvPr/>
        </p:nvSpPr>
        <p:spPr>
          <a:xfrm>
            <a:off x="548640"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Prepare facts</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Acknowledge emotion</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Explore perspective</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83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Agree next action</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Emotional steadiness helps a leader manage a disagreement without silencing it. Prepare the facts, name the shared purpose and invite the other person's account.</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WORKED EXAMPLE · GOSKILLS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Keep a difficult conversation constructive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Acknowledge concern without accepting an unsupported allegation. If discussion becomes unproductive, pause and agree when to return. Record the action and the review point in neutral language.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At Meridian, the leader separates a delayed handover from a personal accusation, then checks workload and decision ownership. The goal is a usable agreement and a fair process, rather than winning a debate.</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09: Conflict Diagnosis and Resolution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242</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choose a proportionate response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835165"/>
                </a:solidFill>
                <a:latin typeface="Aptos"/>
              </a:rPr>
              <a:t>Finished result: A completed conflict diagnosis and resolution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835165"/>
                </a:solidFill>
                <a:latin typeface="Aptos"/>
              </a:rPr>
              <a:t>Apply the concepts</a:t>
            </a:r>
          </a:p>
          <a:p>
            <a:pPr algn="l">
              <a:spcAft>
                <a:spcPts val="800"/>
              </a:spcAft>
            </a:pPr>
            <a:r>
              <a:rPr sz="2400" b="1">
                <a:solidFill>
                  <a:srgbClr val="835165"/>
                </a:solidFill>
                <a:latin typeface="Aptos"/>
              </a:rPr>
              <a:t>Compare perspectives</a:t>
            </a:r>
          </a:p>
          <a:p>
            <a:pPr algn="l">
              <a:spcAft>
                <a:spcPts val="800"/>
              </a:spcAft>
            </a:pPr>
            <a:r>
              <a:rPr sz="2400" b="1">
                <a:solidFill>
                  <a:srgbClr val="835165"/>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OPTIONAL DISCUSSION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Original practice context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Scene: An office setting at Creative Marketing Solutions. Two team members, Jane and Kevin, are working on a marketing campaign for a client. They have different opinions on the campaign's creative direction, which has led to a disagreement.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Use one of the Negotiation Techniques to resolve the issue</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10: Interest-Based Negotiation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244</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create options and evaluate a fair agreement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835165"/>
                </a:solidFill>
                <a:latin typeface="Aptos"/>
              </a:rPr>
              <a:t>Finished result: A completed interest-based negotiation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835165"/>
                </a:solidFill>
                <a:latin typeface="Aptos"/>
              </a:rPr>
              <a:t>Apply the concepts</a:t>
            </a:r>
          </a:p>
          <a:p>
            <a:pPr algn="l">
              <a:spcAft>
                <a:spcPts val="800"/>
              </a:spcAft>
            </a:pPr>
            <a:r>
              <a:rPr sz="2400" b="1">
                <a:solidFill>
                  <a:srgbClr val="835165"/>
                </a:solidFill>
                <a:latin typeface="Aptos"/>
              </a:rPr>
              <a:t>Compare perspectives</a:t>
            </a:r>
          </a:p>
          <a:p>
            <a:pPr algn="l">
              <a:spcAft>
                <a:spcPts val="800"/>
              </a:spcAft>
            </a:pPr>
            <a:r>
              <a:rPr sz="2400" b="1">
                <a:solidFill>
                  <a:srgbClr val="835165"/>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835165"/>
                </a:solidFill>
                <a:latin typeface="Aptos"/>
              </a:rPr>
              <a:t>TOPIC RECAP</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Recap: Conflict Resolution and Negotiation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245</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LO5: Resolve a work disagreement by exploring interests and fair options.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Explain your choice with evidence, name a trade-off and record a review point.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835165"/>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Which behaviour will you keep practising after today?</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Team Building and Management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246</a:t>
            </a:r>
          </a:p>
        </p:txBody>
      </p:sp>
      <p:sp>
        <p:nvSpPr>
          <p:cNvPr id="6" name="Oval 5"/>
          <p:cNvSpPr/>
          <p:nvPr/>
        </p:nvSpPr>
        <p:spPr>
          <a:xfrm>
            <a:off x="7955279" y="2011680"/>
            <a:ext cx="3566160" cy="3566160"/>
          </a:xfrm>
          <a:prstGeom prst="ellipse">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2514600"/>
            <a:ext cx="2926080" cy="1828800"/>
          </a:xfrm>
          <a:prstGeom prst="rect">
            <a:avLst/>
          </a:prstGeom>
          <a:noFill/>
        </p:spPr>
        <p:txBody>
          <a:bodyPr wrap="square" lIns="0" rIns="0" tIns="0">
            <a:spAutoFit/>
          </a:bodyPr>
          <a:lstStyle/>
          <a:p>
            <a:pPr algn="ctr">
              <a:spcAft>
                <a:spcPts val="800"/>
              </a:spcAft>
            </a:pPr>
            <a:r>
              <a:rPr sz="10000" b="1">
                <a:solidFill>
                  <a:srgbClr val="506480"/>
                </a:solidFill>
                <a:latin typeface="Aptos"/>
              </a:rPr>
              <a:t>06</a:t>
            </a:r>
          </a:p>
        </p:txBody>
      </p:sp>
      <p:sp>
        <p:nvSpPr>
          <p:cNvPr id="8" name="TextBox 7"/>
          <p:cNvSpPr txBox="1"/>
          <p:nvPr/>
        </p:nvSpPr>
        <p:spPr>
          <a:xfrm>
            <a:off x="594360" y="2331720"/>
            <a:ext cx="6766560" cy="1554480"/>
          </a:xfrm>
          <a:prstGeom prst="rect">
            <a:avLst/>
          </a:prstGeom>
          <a:noFill/>
        </p:spPr>
        <p:txBody>
          <a:bodyPr wrap="square" lIns="0" rIns="0" tIns="0">
            <a:spAutoFit/>
          </a:bodyPr>
          <a:lstStyle/>
          <a:p>
            <a:pPr algn="l">
              <a:spcAft>
                <a:spcPts val="800"/>
              </a:spcAft>
            </a:pPr>
            <a:r>
              <a:rPr sz="2900" b="0">
                <a:solidFill>
                  <a:srgbClr val="152A3A"/>
                </a:solidFill>
                <a:latin typeface="Aptos"/>
              </a:rPr>
              <a:t>Team roles, inclusion, delegation, trust and accountability</a:t>
            </a:r>
          </a:p>
        </p:txBody>
      </p:sp>
      <p:sp>
        <p:nvSpPr>
          <p:cNvPr id="9" name="TextBox 8"/>
          <p:cNvSpPr txBox="1"/>
          <p:nvPr/>
        </p:nvSpPr>
        <p:spPr>
          <a:xfrm>
            <a:off x="594360" y="4754880"/>
            <a:ext cx="6766560" cy="640080"/>
          </a:xfrm>
          <a:prstGeom prst="rect">
            <a:avLst/>
          </a:prstGeom>
          <a:noFill/>
        </p:spPr>
        <p:txBody>
          <a:bodyPr wrap="square" lIns="0" rIns="0" tIns="0">
            <a:spAutoFit/>
          </a:bodyPr>
          <a:lstStyle/>
          <a:p>
            <a:pPr algn="l">
              <a:spcAft>
                <a:spcPts val="800"/>
              </a:spcAft>
            </a:pPr>
            <a:r>
              <a:rPr sz="2000" b="0">
                <a:solidFill>
                  <a:srgbClr val="526474"/>
                </a:solidFill>
                <a:latin typeface="Aptos"/>
              </a:rPr>
              <a:t>Understand → discuss → practise → reflect</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is team building and management?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247</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Team building refers to the process of enhancing the relationships and communication within a group of individuals working together towards a common goal.</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Team management, on the other hand, involves overseeing and guiding the group towards successful outcomes, including tasks delegation, conflict resolution, and motivation.</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Both concepts are essential for creating and maintaining effective and productive teams in various settings, such as in the workplace or in sports.</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Building High-Performing Teams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248</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High-performing teams are more productive, make better decisions, and have improved morale. By fostering a positive and collaborative team environment, organizations can achieve greater success and reach their goals more effectively.</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Building high-performing teams requires skills such as effective communication, conflict resolution, and the ability to motivate and empower team members.</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Building High-Performing Teams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249</a:t>
            </a:r>
          </a:p>
        </p:txBody>
      </p:sp>
      <p:sp>
        <p:nvSpPr>
          <p:cNvPr id="6" name="Oval 5"/>
          <p:cNvSpPr/>
          <p:nvPr/>
        </p:nvSpPr>
        <p:spPr>
          <a:xfrm>
            <a:off x="5129784" y="3520440"/>
            <a:ext cx="1920240" cy="1188720"/>
          </a:xfrm>
          <a:prstGeom prst="ellipse">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Understanding High-Performing Teams</a:t>
            </a:r>
          </a:p>
        </p:txBody>
      </p:sp>
      <p:cxnSp>
        <p:nvCxnSpPr>
          <p:cNvPr id="11" name="Connector 10"/>
          <p:cNvCxnSpPr/>
          <p:nvPr/>
        </p:nvCxnSpPr>
        <p:spPr>
          <a:xfrm>
            <a:off x="6089904"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48471"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Clear goals</a:t>
            </a:r>
          </a:p>
        </p:txBody>
      </p:sp>
      <p:cxnSp>
        <p:nvCxnSpPr>
          <p:cNvPr id="14" name="Connector 13"/>
          <p:cNvCxnSpPr/>
          <p:nvPr/>
        </p:nvCxnSpPr>
        <p:spPr>
          <a:xfrm>
            <a:off x="6089904" y="41148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9704" y="52120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53218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Open Communication</a:t>
            </a:r>
          </a:p>
        </p:txBody>
      </p:sp>
      <p:cxnSp>
        <p:nvCxnSpPr>
          <p:cNvPr id="17" name="Connector 16"/>
          <p:cNvCxnSpPr/>
          <p:nvPr/>
        </p:nvCxnSpPr>
        <p:spPr>
          <a:xfrm flipH="1">
            <a:off x="2231136"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Trust and Respect</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Building High-Performing Teams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05</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Collaboration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06</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Accountability</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07</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Continuous improvement</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Benefits of Building High-Performing Teams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Increased productivity: High-performing teams are able to work together more effectively, which leads to increased productivity</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Improved decision-making: When team members work together and share their diverse perspectives, they are more likely to arrive at well-informed and effective decisions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Enhanced creativity and innovation: Team members are able to collaborate and share their ideas, they can come up with new and innovative solutions to challenges and problems</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Understanding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252</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Both diversity and inclusion are crucial in the workplace.</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A diverse workforce brings together a range of perspectives, experiences, and ideas, which can lead to increased creativity and innovation, better decision-making, and improved problem-solving.</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Inclusion ensures that all employees feel comfortable being themselves and can contribute to their fullest potential.</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It also helps to reduce bias and discrimination, increase employee engagement and retention, and promote a positive workplace culture.</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Benefits of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Increased creativity and innovation due to a wider range of perspectives, experiences, and ideas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Improved problem-solving and decision-making due to diverse viewpoints and approaches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Enhanced cultural competence and ability to work effectively in a global and diverse business landscape</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Benefits of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254</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Increased employee engagement, retention, and job satisfaction</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Reduced bias and discrimination, creating a more positive workplace culture</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Attracting and retaining top talent from diverse backgrounds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Enhanced reputation and brand image as a socially responsible and inclusive organization.</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Benefits of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255</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Improved customer relations and satisfaction by reflecting the diversity of the customer base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Increased profitability and business success due to the above benefits</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Barriers of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256</a:t>
            </a:r>
          </a:p>
        </p:txBody>
      </p:sp>
      <p:sp>
        <p:nvSpPr>
          <p:cNvPr id="6" name="Oval 5"/>
          <p:cNvSpPr/>
          <p:nvPr/>
        </p:nvSpPr>
        <p:spPr>
          <a:xfrm>
            <a:off x="5129784" y="3520440"/>
            <a:ext cx="1920240" cy="1188720"/>
          </a:xfrm>
          <a:prstGeom prst="ellipse">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Unconscious bias</a:t>
            </a:r>
          </a:p>
        </p:txBody>
      </p:sp>
      <p:cxnSp>
        <p:nvCxnSpPr>
          <p:cNvPr id="11" name="Connector 10"/>
          <p:cNvCxnSpPr/>
          <p:nvPr/>
        </p:nvCxnSpPr>
        <p:spPr>
          <a:xfrm>
            <a:off x="6089904"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48471"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Lack of diversity in leadership</a:t>
            </a:r>
          </a:p>
        </p:txBody>
      </p:sp>
      <p:cxnSp>
        <p:nvCxnSpPr>
          <p:cNvPr id="14" name="Connector 13"/>
          <p:cNvCxnSpPr/>
          <p:nvPr/>
        </p:nvCxnSpPr>
        <p:spPr>
          <a:xfrm>
            <a:off x="6089904" y="41148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9704" y="52120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53218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Stereotyping and discrimination</a:t>
            </a:r>
          </a:p>
        </p:txBody>
      </p:sp>
      <p:cxnSp>
        <p:nvCxnSpPr>
          <p:cNvPr id="17" name="Connector 16"/>
          <p:cNvCxnSpPr/>
          <p:nvPr/>
        </p:nvCxnSpPr>
        <p:spPr>
          <a:xfrm flipH="1">
            <a:off x="2231136"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Resistance to change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Barriers of diversity and inclusion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257</a:t>
            </a:r>
          </a:p>
        </p:txBody>
      </p:sp>
      <p:sp>
        <p:nvSpPr>
          <p:cNvPr id="6" name="Oval 5"/>
          <p:cNvSpPr/>
          <p:nvPr/>
        </p:nvSpPr>
        <p:spPr>
          <a:xfrm>
            <a:off x="5129784" y="3520440"/>
            <a:ext cx="1920240" cy="1188720"/>
          </a:xfrm>
          <a:prstGeom prst="ellipse">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Limited access to opportunities</a:t>
            </a:r>
          </a:p>
        </p:txBody>
      </p:sp>
      <p:cxnSp>
        <p:nvCxnSpPr>
          <p:cNvPr id="11" name="Connector 10"/>
          <p:cNvCxnSpPr/>
          <p:nvPr/>
        </p:nvCxnSpPr>
        <p:spPr>
          <a:xfrm>
            <a:off x="6089904"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48471"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Language and cultural barriers</a:t>
            </a:r>
          </a:p>
        </p:txBody>
      </p:sp>
      <p:cxnSp>
        <p:nvCxnSpPr>
          <p:cNvPr id="14" name="Connector 13"/>
          <p:cNvCxnSpPr/>
          <p:nvPr/>
        </p:nvCxnSpPr>
        <p:spPr>
          <a:xfrm>
            <a:off x="6089904" y="41148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9704" y="52120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53218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Lack of accountability</a:t>
            </a:r>
          </a:p>
        </p:txBody>
      </p:sp>
      <p:cxnSp>
        <p:nvCxnSpPr>
          <p:cNvPr id="17" name="Connector 16"/>
          <p:cNvCxnSpPr/>
          <p:nvPr/>
        </p:nvCxnSpPr>
        <p:spPr>
          <a:xfrm flipH="1">
            <a:off x="2231136"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Lack of support and resources</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managing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Develop a diversity and inclusion strategy: Develop a clear strategy that outlines the organization's goals, objectives, and action plan for promoting diversity and inclusion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Conduct diversity training: Provide diversity training to all employees to help them recognize and overcome unconscious bias and develop cultural competence</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Foster an inclusive culture: Foster an inclusive workplace culture by promoting respect, open communication, and teamwork across all levels of the organization</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managing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259</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Provide equal opportunities: Ensure that all employees have equal access to opportunities such as training, mentoring, and career advancement</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Recruit and retain diverse talent</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Develop recruitment and retention strategies that attract and retain diverse talent</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Provide employee resource groups: Employee resource groups (ERGs) provide a forum for employees to connect and support each other based on shared interests or identities</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managing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Encourage feedback: Encourage employees to provide feedback and suggestions for how the organization can better promote diversity and inclusion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Hold leadership accountable: Hold leadership accountable for promoting diversity and inclusion by setting goals, tracking progress, and providing resources and support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Monitor progress: Monitor progress towards diversity and inclusion goals, and adjust strategies as needed to ensure continued progress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Best practices for managing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Leadership commitment: Diversity and inclusion must be a top-down initiative that starts with leadership commitment to creating an inclusive culture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Consistent communication: Communicate regularly and consistently about the organization's commitment to diversity and inclusion, and provide updates on progress and successes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Inclusive policies and practices: Review and update policies and practices to ensure they are inclusive, such as flexible work arrangements, parental leave, and accommodations for disabilities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Best practices for managing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Fairness and equity: Ensure that all employees are treated fairly and equitably, regardless of their backgrounds or identities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Employee involvement: Involve employees in the development and implementation of diversity and inclusion initiatives, such as employee resource groups or diversity task forces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Continuous learning: Encourage continuous learning and education about diversity and inclusion, such as providing training and resources for employees to learn about different cultures, backgrounds, and experiences</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Best practices for managing diversity and inclusion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Metrics and accountability: Develop metrics to track progress towards diversity and inclusion goals, and hold leadership and managers accountable for promoting diversity and inclusion in their areas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Celebrate diversity: Celebrate diversity and cultural events, such as Black History Month, Pride Month, or International Women's Day, to create a sense of belonging and inclusion for all employees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Ongoing evaluation: Continuously evaluate diversity and inclusion initiatives and strategies to ensure their effectiveness and make necessary changes to better promote diversity and inclusion in the organization</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Measuring Success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264</a:t>
            </a:r>
          </a:p>
        </p:txBody>
      </p:sp>
      <p:sp>
        <p:nvSpPr>
          <p:cNvPr id="6" name="Oval 5"/>
          <p:cNvSpPr/>
          <p:nvPr/>
        </p:nvSpPr>
        <p:spPr>
          <a:xfrm>
            <a:off x="5129784" y="3520440"/>
            <a:ext cx="1920240" cy="1188720"/>
          </a:xfrm>
          <a:prstGeom prst="ellipse">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Employee Engagement</a:t>
            </a:r>
          </a:p>
        </p:txBody>
      </p:sp>
      <p:cxnSp>
        <p:nvCxnSpPr>
          <p:cNvPr id="11" name="Connector 10"/>
          <p:cNvCxnSpPr/>
          <p:nvPr/>
        </p:nvCxnSpPr>
        <p:spPr>
          <a:xfrm>
            <a:off x="6089904"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48471"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Turnover rates</a:t>
            </a:r>
          </a:p>
        </p:txBody>
      </p:sp>
      <p:cxnSp>
        <p:nvCxnSpPr>
          <p:cNvPr id="14" name="Connector 13"/>
          <p:cNvCxnSpPr/>
          <p:nvPr/>
        </p:nvCxnSpPr>
        <p:spPr>
          <a:xfrm>
            <a:off x="6089904" y="41148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9704" y="52120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53218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Productivity &amp; Profitability</a:t>
            </a:r>
          </a:p>
        </p:txBody>
      </p:sp>
      <p:cxnSp>
        <p:nvCxnSpPr>
          <p:cNvPr id="17" name="Connector 16"/>
          <p:cNvCxnSpPr/>
          <p:nvPr/>
        </p:nvCxnSpPr>
        <p:spPr>
          <a:xfrm flipH="1">
            <a:off x="2231136"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Customer satisfaction</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Team dynamics and roles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265</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Team dynamics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The way team members interact and work together</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Influenced by factors such as personality, communication styles, and the team's goals and objectives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600" b="0">
                <a:solidFill>
                  <a:srgbClr val="152A3A"/>
                </a:solidFill>
                <a:latin typeface="Aptos"/>
              </a:rPr>
              <a:t>Team dynamics and roles can shift and change over time based on the team's needs and the individuals involved. It's important for team members to have open communication and be flexible in order to adapt to changes in dynamics and roles</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Common team dynamics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266</a:t>
            </a:r>
          </a:p>
        </p:txBody>
      </p:sp>
      <p:sp>
        <p:nvSpPr>
          <p:cNvPr id="6" name="Oval 5"/>
          <p:cNvSpPr/>
          <p:nvPr/>
        </p:nvSpPr>
        <p:spPr>
          <a:xfrm>
            <a:off x="5129784" y="3520440"/>
            <a:ext cx="1920240" cy="1188720"/>
          </a:xfrm>
          <a:prstGeom prst="ellipse">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66944" y="3794760"/>
            <a:ext cx="1645920" cy="731520"/>
          </a:xfrm>
          <a:prstGeom prst="rect">
            <a:avLst/>
          </a:prstGeom>
          <a:noFill/>
        </p:spPr>
        <p:txBody>
          <a:bodyPr wrap="square" lIns="0" rIns="0" tIns="0">
            <a:spAutoFit/>
          </a:bodyPr>
          <a:lstStyle/>
          <a:p>
            <a:pPr algn="ctr">
              <a:spcAft>
                <a:spcPts val="800"/>
              </a:spcAft>
            </a:pPr>
            <a:r>
              <a:rPr sz="2000" b="1">
                <a:solidFill>
                  <a:srgbClr val="FFFFFF"/>
                </a:solidFill>
                <a:latin typeface="Aptos"/>
              </a:rPr>
              <a:t>Leadership</a:t>
            </a:r>
          </a:p>
          <a:p>
            <a:pPr algn="ctr">
              <a:spcAft>
                <a:spcPts val="800"/>
              </a:spcAft>
            </a:pPr>
            <a:r>
              <a:rPr sz="2000" b="1">
                <a:solidFill>
                  <a:srgbClr val="FFFFFF"/>
                </a:solidFill>
                <a:latin typeface="Aptos"/>
              </a:rPr>
              <a:t>in action</a:t>
            </a:r>
          </a:p>
        </p:txBody>
      </p:sp>
      <p:cxnSp>
        <p:nvCxnSpPr>
          <p:cNvPr id="8" name="Connector 7"/>
          <p:cNvCxnSpPr/>
          <p:nvPr/>
        </p:nvCxnSpPr>
        <p:spPr>
          <a:xfrm flipV="1">
            <a:off x="6089904" y="25146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9704" y="20116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214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Trust and psychological safety</a:t>
            </a:r>
          </a:p>
        </p:txBody>
      </p:sp>
      <p:cxnSp>
        <p:nvCxnSpPr>
          <p:cNvPr id="11" name="Connector 10"/>
          <p:cNvCxnSpPr/>
          <p:nvPr/>
        </p:nvCxnSpPr>
        <p:spPr>
          <a:xfrm>
            <a:off x="6089904"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48471"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Communication and collaboration</a:t>
            </a:r>
          </a:p>
        </p:txBody>
      </p:sp>
      <p:cxnSp>
        <p:nvCxnSpPr>
          <p:cNvPr id="14" name="Connector 13"/>
          <p:cNvCxnSpPr/>
          <p:nvPr/>
        </p:nvCxnSpPr>
        <p:spPr>
          <a:xfrm>
            <a:off x="6089904" y="4114800"/>
            <a:ext cx="0" cy="160020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9704" y="52120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53218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Conflict resolution</a:t>
            </a:r>
          </a:p>
        </p:txBody>
      </p:sp>
      <p:cxnSp>
        <p:nvCxnSpPr>
          <p:cNvPr id="17" name="Connector 16"/>
          <p:cNvCxnSpPr/>
          <p:nvPr/>
        </p:nvCxnSpPr>
        <p:spPr>
          <a:xfrm flipH="1">
            <a:off x="2231136" y="4114800"/>
            <a:ext cx="3858768" cy="0"/>
          </a:xfrm>
          <a:prstGeom prst="line">
            <a:avLst/>
          </a:prstGeom>
          <a:ln w="19050">
            <a:solidFill>
              <a:srgbClr val="5064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 y="3611880"/>
            <a:ext cx="3200400" cy="1005840"/>
          </a:xfrm>
          <a:prstGeom prst="round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721608"/>
            <a:ext cx="2926080" cy="795528"/>
          </a:xfrm>
          <a:prstGeom prst="rect">
            <a:avLst/>
          </a:prstGeom>
          <a:noFill/>
        </p:spPr>
        <p:txBody>
          <a:bodyPr wrap="square" lIns="0" rIns="0" tIns="0">
            <a:spAutoFit/>
          </a:bodyPr>
          <a:lstStyle/>
          <a:p>
            <a:pPr algn="ctr">
              <a:spcAft>
                <a:spcPts val="800"/>
              </a:spcAft>
            </a:pPr>
            <a:r>
              <a:rPr sz="1800" b="1">
                <a:solidFill>
                  <a:srgbClr val="152A3A"/>
                </a:solidFill>
                <a:latin typeface="Aptos"/>
              </a:rPr>
              <a:t>Cohesion and alignment</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Roles within a team</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Each team member has a specific role and responsibilities to fulfill</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Roles can be based on skill set, expertise, or position within the organization</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Common team roles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Leader: responsible for guiding the team and ensuring that goals and objectives are met</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Facilitator: responsible for keeping the team on track and facilitating discussions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Expert: brings specific knowledge or expertise to the team</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Common team roles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269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Implementer: responsible for executing the team's plan and completing tasks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Coordinator: responsible for managing logistics and ensuring that everyone is on the same page</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Definition of trust and accountability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270</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Trust can be defined as the belief or confidence that one has in another person or entity's reliability, honesty, and competence</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Accountability refers to the responsibility that individuals or organizations have for their actions or decisions.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It involves being answerable for the outcomes of one's actions and being willing to take responsibility for any mistakes or failures</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Both trust and accountability are important in a workplace because they help to create a positive and productive work environment</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Benefits of trust and accountability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271</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Increased productivity: When employees trust their colleagues and are held accountable for their work, they are more likely to be productive and engaged. This leads to higher levels of output and better overall performance.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Improved teamwork: A culture of trust and accountability promotes collaboration and teamwork. When employees trust one another, they are more likely to work together effectively and communicate openly and honestly.</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This leads to better problem-solving and decision-making.</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Benefits of trust and accountability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Enhanced creativity: A culture of trust and accountability encourages employees to take risks and be creative in their work.</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When employees know that they are supported and that they will be held accountable for their actions, they are more likely to think outside the box and come up with innovative ideas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Greater job satisfaction: When employees feel trusted and supported, they are more likely to be satisfied with their job and the organization they work for. This can lead to lower turnover rates and better employee retention</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Benefits of trust and accountability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273</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Improved customer relationships: A culture of trust and accountability can also benefit customers.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When employees are held accountable for their work, they are more likely to provide high-quality products or services and to treat customers with respect and professionalism</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Building trust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274</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Building trust requires consistency, honesty, and reliability. It involves keeping promises, following through on commitments, and being transparent in communication.</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Trust is built over time through positive interactions and a willingness to listen and understand the perspectives of others.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How to build trust</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regular check-ins, active listening, and providing feedback</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Maintaining accountability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275</a:t>
            </a:r>
          </a:p>
        </p:txBody>
      </p:sp>
      <p:sp>
        <p:nvSpPr>
          <p:cNvPr id="6" name="Rectangle 5"/>
          <p:cNvSpPr/>
          <p:nvPr/>
        </p:nvSpPr>
        <p:spPr>
          <a:xfrm>
            <a:off x="548640"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Maintaining accountability involves setting clear expectations, following through on commitments, and taking responsibility for outcomes.</a:t>
            </a:r>
          </a:p>
        </p:txBody>
      </p:sp>
      <p:sp>
        <p:nvSpPr>
          <p:cNvPr id="9" name="Rectangle 8"/>
          <p:cNvSpPr/>
          <p:nvPr/>
        </p:nvSpPr>
        <p:spPr>
          <a:xfrm>
            <a:off x="6240779" y="192024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It requires open communication and transparency, being willing to admit mistakes and make necessary corrections.</a:t>
            </a:r>
          </a:p>
        </p:txBody>
      </p:sp>
      <p:sp>
        <p:nvSpPr>
          <p:cNvPr id="12" name="Rectangle 11"/>
          <p:cNvSpPr/>
          <p:nvPr/>
        </p:nvSpPr>
        <p:spPr>
          <a:xfrm>
            <a:off x="548640"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141731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How to maintain accountability</a:t>
            </a:r>
          </a:p>
        </p:txBody>
      </p:sp>
      <p:sp>
        <p:nvSpPr>
          <p:cNvPr id="15" name="Rectangle 14"/>
          <p:cNvSpPr/>
          <p:nvPr/>
        </p:nvSpPr>
        <p:spPr>
          <a:xfrm>
            <a:off x="6240779" y="4183380"/>
            <a:ext cx="5372100" cy="198882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092" y="432054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04</a:t>
            </a:r>
          </a:p>
        </p:txBody>
      </p:sp>
      <p:sp>
        <p:nvSpPr>
          <p:cNvPr id="17" name="TextBox 16"/>
          <p:cNvSpPr txBox="1"/>
          <p:nvPr/>
        </p:nvSpPr>
        <p:spPr>
          <a:xfrm>
            <a:off x="7109459" y="4393692"/>
            <a:ext cx="4293108" cy="1568196"/>
          </a:xfrm>
          <a:prstGeom prst="rect">
            <a:avLst/>
          </a:prstGeom>
          <a:noFill/>
        </p:spPr>
        <p:txBody>
          <a:bodyPr wrap="square" lIns="0" rIns="0" tIns="0">
            <a:spAutoFit/>
          </a:bodyPr>
          <a:lstStyle/>
          <a:p>
            <a:pPr algn="l">
              <a:spcAft>
                <a:spcPts val="800"/>
              </a:spcAft>
            </a:pPr>
            <a:r>
              <a:rPr sz="1900" b="0">
                <a:solidFill>
                  <a:srgbClr val="152A3A"/>
                </a:solidFill>
                <a:latin typeface="Aptos"/>
              </a:rPr>
              <a:t>regular goal-setting, performance evaluations, and recognition programs</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Tools for building trust and accountability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Performance reviews: Conduct regular performance reviews that provide feedback on individual performance and progress towards shared goals.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This can help build accountability by setting clear expectations and holding individuals responsible for their actions.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Team-building activities: Plan team-building activities that encourage collaboration, communication, and positive interactions. This can help build trust by promoting teamwork and a sense of shared purpose.</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Tools for building trust and accountability</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Training programs: Offer training programs that promote ethical behavior and professionalism. This can help build accountability by providing individuals with the tools and knowledge they need to make responsible decisions.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Recognition programs: Implement recognition programs that reward individuals and teams for demonstrating trust and accountability. This can help build trust by recognizing and celebrating positive behavior and achievements.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2700" b="1">
                <a:solidFill>
                  <a:srgbClr val="152A3A"/>
                </a:solidFill>
                <a:latin typeface="Aptos"/>
              </a:rPr>
              <a:t>Common barriers to building trust and accountability in the workplace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278</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Lack of communication: When communication is unclear or inconsistent, it can lead to misunderstandings and erode trust. This can also make it difficult to establish clear expectations and hold individuals accountable</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Poor leadership: When leaders fail to model trust and accountability, it can undermine these values throughout the organization. Leaders who do not hold themselves or others accountable can create a culture of blame and distrust.</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2700" b="1">
                <a:solidFill>
                  <a:srgbClr val="152A3A"/>
                </a:solidFill>
                <a:latin typeface="Aptos"/>
              </a:rPr>
              <a:t>Common barriers to building trust and accountability in the workplace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279</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Inconsistent standards: When standards of behavior and performance are not consistently applied, it can erode trust and undermine accountability.</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If some individuals are held to a different standard than others, it can create a sense of unfairness and undermine trust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Lack of transparency: When decisions are made behind closed doors or information is withheld, it can erode trust and create a sense of mistrust. Transparency and open communication are essential for building trust and accountability.</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overcoming these barriers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280</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Improve communication: Establish regular channels of communication that are clear, consistent, and transparent. Encourage feedback and active listening to promote open and honest communication.</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Lead by example: Leaders must model the behavior they want to see in others. Hold leaders accountable for their actions and ensure they are consistently demonstrating trust and accountability.</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overcoming these barriers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281</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Establish consistent standards: Ensure that standards of behavior and performance are consistently applied throughout the organization. Hold individuals accountable for meeting expectations and provide feedback when they fall short.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Foster transparency: Be open and transparent in decision-making and information sharing. Provide regular updates and ensure that everyone is on the same page.</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06 · CONCEPT LIBRARY</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Strategies for overcoming these barriers</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282</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Provide training and support: Offer training programs and support to help individuals develop the skills and knowledge they need to make responsible decisions and behave professionally.</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Celebrate successes: Recognize and celebrate positive behavior and achievements. This can help build trust and promote a sense of community within the organization.</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Strengths complement one another</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283</a:t>
            </a:r>
          </a:p>
        </p:txBody>
      </p:sp>
      <p:sp>
        <p:nvSpPr>
          <p:cNvPr id="6" name="Rounded Rectangle 5"/>
          <p:cNvSpPr/>
          <p:nvPr/>
        </p:nvSpPr>
        <p:spPr>
          <a:xfrm>
            <a:off x="548640"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Deliver work</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Build relationships</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Influence</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Think ahead</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Gallup describes executing, influencing, relationship building and strategic thinking as four strengths domains. They provide a lens for discussing contributions; they are not a ranking of people.</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WORKED EXAMPLE · GALLUP</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Strengths complement one another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600" b="0">
                <a:solidFill>
                  <a:srgbClr val="152A3A"/>
                </a:solidFill>
                <a:latin typeface="Aptos"/>
              </a:rPr>
              <a:t>The course worksheet uses observed work examples and does not produce a CliftonStrengths score. Meridian pairs someone skilled at analysis with someone who builds client understanding.</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Check workload and development needs as well as preference when assigning work. A team needs ways to cover gaps, and a person's apparent strength can be overused.</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Keep asking what the situation needs and whether colleagues experience the contribution as helpful.</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Delegation is a two-way agreement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285</a:t>
            </a:r>
          </a:p>
        </p:txBody>
      </p:sp>
      <p:sp>
        <p:nvSpPr>
          <p:cNvPr id="6" name="Rounded Rectangle 5"/>
          <p:cNvSpPr/>
          <p:nvPr/>
        </p:nvSpPr>
        <p:spPr>
          <a:xfrm>
            <a:off x="548640"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Result</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Authority</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Resources</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Checkpoints</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Delegation transfers ownership of a result within stated boundaries. Agree what success looks like, which choices the person can make, the resources available and when to raise a problem.</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WORKED EXAMPLE · SCU SKILLS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Delegation is a two-way agreement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286</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The leader remains accountable for the system of support and follow-up. Meridian delegates the handover pilot to an experienced coordinator with authority to revise the template, but not to change customer commitments.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Check capability and workload before assigning a stretch task. Too many checkpoints can become micromanagement; too few can hide a problem until the deadline.</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APPLY THE 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Leadership development needs evidence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287</a:t>
            </a:r>
          </a:p>
        </p:txBody>
      </p:sp>
      <p:sp>
        <p:nvSpPr>
          <p:cNvPr id="6" name="Rounded Rectangle 5"/>
          <p:cNvSpPr/>
          <p:nvPr/>
        </p:nvSpPr>
        <p:spPr>
          <a:xfrm>
            <a:off x="548640"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One behaviour</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Practice opportunity</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Feedback partner</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506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Review evidence</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A development plan should connect a specific behaviour to practice and feedback. Rather than Improve communication, choose Summarise and check the decision at the end of each cross-team meeting.</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WORKED EXAMPLE · COURSERA DEVELOPMENT</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Leadership development needs evidence in practice</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288</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Name the next opportunity, a feedback partner and what would show progress. Include reflection on both success and setbacks. Meridian's team lead collects two examples each week and asks whether the summary helped colleagues act.</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A course can introduce tools, but repeated work practice and supportive relationships make the change durable. Adjust the plan when the evidence shows that the chosen behaviour is not addressing the real need.</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OPTIONAL DISCUSSION</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Original practice context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289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600" b="0">
                <a:solidFill>
                  <a:srgbClr val="152A3A"/>
                </a:solidFill>
                <a:latin typeface="Aptos"/>
              </a:rPr>
              <a:t>Company XYZ is a mid-sized software development firm. The company is experiencing a lot of turnover and the CEO has tasked the HR department with building a high-performing team that will improve productivity and reduce turnover.</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What are some of steps that HR department can take to build a high-performing team?</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11: Inclusive Team Charter and Delegation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290</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assign ownership and make participation usable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506480"/>
                </a:solidFill>
                <a:latin typeface="Aptos"/>
              </a:rPr>
              <a:t>Finished result: A completed inclusive team charter and delegation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506480"/>
                </a:solidFill>
                <a:latin typeface="Aptos"/>
              </a:rPr>
              <a:t>Apply the concepts</a:t>
            </a:r>
          </a:p>
          <a:p>
            <a:pPr algn="l">
              <a:spcAft>
                <a:spcPts val="800"/>
              </a:spcAft>
            </a:pPr>
            <a:r>
              <a:rPr sz="2400" b="1">
                <a:solidFill>
                  <a:srgbClr val="506480"/>
                </a:solidFill>
                <a:latin typeface="Aptos"/>
              </a:rPr>
              <a:t>Compare perspectives</a:t>
            </a:r>
          </a:p>
          <a:p>
            <a:pPr algn="l">
              <a:spcAft>
                <a:spcPts val="800"/>
              </a:spcAft>
            </a:pPr>
            <a:r>
              <a:rPr sz="2400" b="1">
                <a:solidFill>
                  <a:srgbClr val="506480"/>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PRACTISE · 35 MINUTES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Activity 12: 30-Day Leadership Development Plan</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291</a:t>
            </a:r>
          </a:p>
        </p:txBody>
      </p:sp>
      <p:sp>
        <p:nvSpPr>
          <p:cNvPr id="6" name="Rectangle 5"/>
          <p:cNvSpPr/>
          <p:nvPr/>
        </p:nvSpPr>
        <p:spPr>
          <a:xfrm>
            <a:off x="594360" y="1965960"/>
            <a:ext cx="6903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6355080" cy="1554480"/>
          </a:xfrm>
          <a:prstGeom prst="rect">
            <a:avLst/>
          </a:prstGeom>
          <a:noFill/>
        </p:spPr>
        <p:txBody>
          <a:bodyPr wrap="square" lIns="0" rIns="0" tIns="0">
            <a:spAutoFit/>
          </a:bodyPr>
          <a:lstStyle/>
          <a:p>
            <a:pPr algn="l">
              <a:spcAft>
                <a:spcPts val="800"/>
              </a:spcAft>
            </a:pPr>
            <a:r>
              <a:rPr sz="1800" b="0">
                <a:solidFill>
                  <a:srgbClr val="152A3A"/>
                </a:solidFill>
                <a:latin typeface="Aptos"/>
              </a:rPr>
              <a:t>In this activity, you will convert learning into a measurable habit using a fictional Meridian Services situation. You will discuss different perspectives, practise a leadership response and produce a reusable work artifact. The exercise connects the topic concepts to an everyday team decision, and the debrief focuses on how your response affects other people.</a:t>
            </a:r>
          </a:p>
        </p:txBody>
      </p:sp>
      <p:sp>
        <p:nvSpPr>
          <p:cNvPr id="8" name="TextBox 7"/>
          <p:cNvSpPr txBox="1"/>
          <p:nvPr/>
        </p:nvSpPr>
        <p:spPr>
          <a:xfrm>
            <a:off x="868680" y="4434840"/>
            <a:ext cx="6355080" cy="1554480"/>
          </a:xfrm>
          <a:prstGeom prst="rect">
            <a:avLst/>
          </a:prstGeom>
          <a:noFill/>
        </p:spPr>
        <p:txBody>
          <a:bodyPr wrap="square" lIns="0" rIns="0" tIns="0">
            <a:spAutoFit/>
          </a:bodyPr>
          <a:lstStyle/>
          <a:p>
            <a:pPr algn="l">
              <a:spcAft>
                <a:spcPts val="800"/>
              </a:spcAft>
            </a:pPr>
            <a:r>
              <a:rPr sz="1800" b="1">
                <a:solidFill>
                  <a:srgbClr val="506480"/>
                </a:solidFill>
                <a:latin typeface="Aptos"/>
              </a:rPr>
              <a:t>Finished result: A completed 30-day leadership development plan worksheet, a peer observation checklist and a practical next action.</a:t>
            </a:r>
          </a:p>
        </p:txBody>
      </p:sp>
      <p:sp>
        <p:nvSpPr>
          <p:cNvPr id="9" name="TextBox 8"/>
          <p:cNvSpPr txBox="1"/>
          <p:nvPr/>
        </p:nvSpPr>
        <p:spPr>
          <a:xfrm>
            <a:off x="7909560" y="2240280"/>
            <a:ext cx="3566160" cy="1965960"/>
          </a:xfrm>
          <a:prstGeom prst="rect">
            <a:avLst/>
          </a:prstGeom>
          <a:noFill/>
        </p:spPr>
        <p:txBody>
          <a:bodyPr wrap="square" lIns="0" rIns="0" tIns="0">
            <a:spAutoFit/>
          </a:bodyPr>
          <a:lstStyle/>
          <a:p>
            <a:pPr algn="l">
              <a:spcAft>
                <a:spcPts val="800"/>
              </a:spcAft>
            </a:pPr>
            <a:r>
              <a:rPr sz="2400" b="1">
                <a:solidFill>
                  <a:srgbClr val="506480"/>
                </a:solidFill>
                <a:latin typeface="Aptos"/>
              </a:rPr>
              <a:t>Apply the concepts</a:t>
            </a:r>
          </a:p>
          <a:p>
            <a:pPr algn="l">
              <a:spcAft>
                <a:spcPts val="800"/>
              </a:spcAft>
            </a:pPr>
            <a:r>
              <a:rPr sz="2400" b="1">
                <a:solidFill>
                  <a:srgbClr val="506480"/>
                </a:solidFill>
                <a:latin typeface="Aptos"/>
              </a:rPr>
              <a:t>Compare perspectives</a:t>
            </a:r>
          </a:p>
          <a:p>
            <a:pPr algn="l">
              <a:spcAft>
                <a:spcPts val="800"/>
              </a:spcAft>
            </a:pPr>
            <a:r>
              <a:rPr sz="2400" b="1">
                <a:solidFill>
                  <a:srgbClr val="506480"/>
                </a:solidFill>
                <a:latin typeface="Aptos"/>
              </a:rPr>
              <a:t>Use the peer checklist</a:t>
            </a:r>
          </a:p>
        </p:txBody>
      </p:sp>
      <p:sp>
        <p:nvSpPr>
          <p:cNvPr id="10" name="TextBox 9"/>
          <p:cNvSpPr txBox="1"/>
          <p:nvPr/>
        </p:nvSpPr>
        <p:spPr>
          <a:xfrm>
            <a:off x="7909560" y="4663440"/>
            <a:ext cx="3566160" cy="1463040"/>
          </a:xfrm>
          <a:prstGeom prst="rect">
            <a:avLst/>
          </a:prstGeom>
          <a:noFill/>
        </p:spPr>
        <p:txBody>
          <a:bodyPr wrap="square" lIns="0" rIns="0" tIns="0">
            <a:spAutoFit/>
          </a:bodyPr>
          <a:lstStyle/>
          <a:p>
            <a:pPr algn="l">
              <a:spcAft>
                <a:spcPts val="800"/>
              </a:spcAft>
            </a:pPr>
            <a:r>
              <a:rPr sz="1900" b="0">
                <a:solidFill>
                  <a:srgbClr val="526474"/>
                </a:solidFill>
                <a:latin typeface="Aptos"/>
              </a:rPr>
              <a:t>Detailed instructions and worksheets are in the activity folder and Learner Guide.</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506480"/>
                </a:solidFill>
                <a:latin typeface="Aptos"/>
              </a:rPr>
              <a:t>TOPIC RECAP</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Recap: Team Building and Management</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292</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LO6: Design an inclusive team charter, delegation agreement and personal development plan.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Explain your choice with evidence, name a trade-off and record a review point.</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506480"/>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Which behaviour will you keep practising after today?</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LEARNING OUTCOMES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You Achieved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293</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LO1: Explain leadership and management and choose a behaviour suited to the situation.</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LO2: Use active listening and specific feedback to build a shared understanding.</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LO3: Compare options using evidence, uncertainty and ethical constraints.</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LEARNING OUTCOMES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What You Achieved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294</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LO4: Create meaningful goals and coach someone toward better performance.</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LO5: Resolve a work disagreement by exploring interests and fair options.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06</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LO6: Design an inclusive team charter, delegation agreement and personal development plan.</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FRAMEWORK</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Keep Practising</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295</a:t>
            </a:r>
          </a:p>
        </p:txBody>
      </p:sp>
      <p:sp>
        <p:nvSpPr>
          <p:cNvPr id="6" name="Rounded Rectangle 5"/>
          <p:cNvSpPr/>
          <p:nvPr/>
        </p:nvSpPr>
        <p:spPr>
          <a:xfrm>
            <a:off x="548640"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Choose a behaviour</a:t>
            </a:r>
          </a:p>
        </p:txBody>
      </p:sp>
      <p:sp>
        <p:nvSpPr>
          <p:cNvPr id="8" name="Chevron 7"/>
          <p:cNvSpPr/>
          <p:nvPr/>
        </p:nvSpPr>
        <p:spPr>
          <a:xfrm>
            <a:off x="3108960"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01568"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Try it at work</a:t>
            </a:r>
          </a:p>
        </p:txBody>
      </p:sp>
      <p:sp>
        <p:nvSpPr>
          <p:cNvPr id="11" name="Chevron 10"/>
          <p:cNvSpPr/>
          <p:nvPr/>
        </p:nvSpPr>
        <p:spPr>
          <a:xfrm>
            <a:off x="5961887"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4495"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7"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Ask for feedback</a:t>
            </a:r>
          </a:p>
        </p:txBody>
      </p:sp>
      <p:sp>
        <p:nvSpPr>
          <p:cNvPr id="14" name="Chevron 13"/>
          <p:cNvSpPr/>
          <p:nvPr/>
        </p:nvSpPr>
        <p:spPr>
          <a:xfrm>
            <a:off x="8814815" y="2834640"/>
            <a:ext cx="219456" cy="320040"/>
          </a:xfrm>
          <a:prstGeom prst="chevron">
            <a:avLst/>
          </a:prstGeom>
          <a:solidFill>
            <a:srgbClr val="B57D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7424" y="2331720"/>
            <a:ext cx="2505456" cy="1463040"/>
          </a:xfrm>
          <a:prstGeom prst="round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2015" y="2514600"/>
            <a:ext cx="2176272" cy="1051560"/>
          </a:xfrm>
          <a:prstGeom prst="rect">
            <a:avLst/>
          </a:prstGeom>
          <a:noFill/>
        </p:spPr>
        <p:txBody>
          <a:bodyPr wrap="square" lIns="0" rIns="0" tIns="0">
            <a:spAutoFit/>
          </a:bodyPr>
          <a:lstStyle/>
          <a:p>
            <a:pPr algn="ctr">
              <a:spcAft>
                <a:spcPts val="800"/>
              </a:spcAft>
            </a:pPr>
            <a:r>
              <a:rPr sz="2200" b="1">
                <a:solidFill>
                  <a:srgbClr val="FFFFFF"/>
                </a:solidFill>
                <a:latin typeface="Aptos"/>
              </a:rPr>
              <a:t>Review evidence</a:t>
            </a:r>
          </a:p>
        </p:txBody>
      </p:sp>
      <p:sp>
        <p:nvSpPr>
          <p:cNvPr id="17" name="TextBox 16"/>
          <p:cNvSpPr txBox="1"/>
          <p:nvPr/>
        </p:nvSpPr>
        <p:spPr>
          <a:xfrm>
            <a:off x="777240" y="4343400"/>
            <a:ext cx="10607040" cy="1508760"/>
          </a:xfrm>
          <a:prstGeom prst="rect">
            <a:avLst/>
          </a:prstGeom>
          <a:noFill/>
        </p:spPr>
        <p:txBody>
          <a:bodyPr wrap="square" lIns="0" rIns="0" tIns="0">
            <a:spAutoFit/>
          </a:bodyPr>
          <a:lstStyle/>
          <a:p>
            <a:pPr algn="l">
              <a:spcAft>
                <a:spcPts val="800"/>
              </a:spcAft>
            </a:pPr>
            <a:r>
              <a:rPr sz="2200" b="0">
                <a:solidFill>
                  <a:srgbClr val="152A3A"/>
                </a:solidFill>
                <a:latin typeface="Aptos"/>
              </a:rPr>
              <a:t>Use Activity 12 to plan reviews after 7, 14 and 30 days. Adapt the plan as you learn.</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SOURCES · ACCESSED 2 OCTOBER 2026</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Further reading</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296</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Santa Clara University: Essential Leadership Skills</a:t>
            </a:r>
          </a:p>
          <a:p>
            <a:pPr algn="l">
              <a:spcAft>
                <a:spcPts val="800"/>
              </a:spcAft>
            </a:pPr>
            <a:r>
              <a:rPr sz="1900" b="0">
                <a:solidFill>
                  <a:srgbClr val="152A3A"/>
                </a:solidFill>
                <a:latin typeface="Aptos"/>
              </a:rPr>
              <a:t>https://www.scu.edu/business/blog/leadership-ethics/essential-leadership-skills/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Santa Clara University: How to Develop Leadership Skills</a:t>
            </a:r>
          </a:p>
          <a:p>
            <a:pPr algn="l">
              <a:spcAft>
                <a:spcPts val="800"/>
              </a:spcAft>
            </a:pPr>
            <a:r>
              <a:rPr sz="1900" b="0">
                <a:solidFill>
                  <a:srgbClr val="152A3A"/>
                </a:solidFill>
                <a:latin typeface="Aptos"/>
              </a:rPr>
              <a:t>https://www.scu.edu/business/blog/leadership-ethics/how-to-develop-leadership-skills/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IMD: Leadership Skills</a:t>
            </a:r>
          </a:p>
          <a:p>
            <a:pPr algn="l">
              <a:spcAft>
                <a:spcPts val="800"/>
              </a:spcAft>
            </a:pPr>
            <a:r>
              <a:rPr sz="1900" b="0">
                <a:solidFill>
                  <a:srgbClr val="152A3A"/>
                </a:solidFill>
                <a:latin typeface="Aptos"/>
              </a:rPr>
              <a:t>https://www.imd.org/blog/leadership/leadership-skills/</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SOURCES · ACCESSED 2 OCTOBER 2026</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Further reading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297</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UCD Professional Academy: Leadership Skills</a:t>
            </a:r>
          </a:p>
          <a:p>
            <a:pPr algn="l">
              <a:spcAft>
                <a:spcPts val="800"/>
              </a:spcAft>
            </a:pPr>
            <a:r>
              <a:rPr sz="1900" b="0">
                <a:solidFill>
                  <a:srgbClr val="152A3A"/>
                </a:solidFill>
                <a:latin typeface="Aptos"/>
              </a:rPr>
              <a:t>https://www.ucd.ie/professionalacademy/resources/15-leadership-skills-that-make-a-good-leader/</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Gallup: How to Be a Better Leader</a:t>
            </a:r>
          </a:p>
          <a:p>
            <a:pPr algn="l">
              <a:spcAft>
                <a:spcPts val="800"/>
              </a:spcAft>
            </a:pPr>
            <a:r>
              <a:rPr sz="1900" b="0">
                <a:solidFill>
                  <a:srgbClr val="152A3A"/>
                </a:solidFill>
                <a:latin typeface="Aptos"/>
              </a:rPr>
              <a:t>https://www.gallup.com/cliftonstrengths/en/356072/how-to-be-better-leader.aspx</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SOURCES · ACCESSED 2 OCTOBER 2026</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Further reading</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298</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Center for Creative Leadership: Leadership Competencies</a:t>
            </a:r>
          </a:p>
          <a:p>
            <a:pPr algn="l">
              <a:spcAft>
                <a:spcPts val="800"/>
              </a:spcAft>
            </a:pPr>
            <a:r>
              <a:rPr sz="1900" b="0">
                <a:solidFill>
                  <a:srgbClr val="152A3A"/>
                </a:solidFill>
                <a:latin typeface="Aptos"/>
              </a:rPr>
              <a:t>https://www.ccl.org/articles/leading-effectively-articles/most-important-leadership-competencies/</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GoSkills: Leadership Skills</a:t>
            </a:r>
          </a:p>
          <a:p>
            <a:pPr algn="l">
              <a:spcAft>
                <a:spcPts val="800"/>
              </a:spcAft>
            </a:pPr>
            <a:r>
              <a:rPr sz="1900" b="0">
                <a:solidFill>
                  <a:srgbClr val="152A3A"/>
                </a:solidFill>
                <a:latin typeface="Aptos"/>
              </a:rPr>
              <a:t>https://www.goskills.com/leadership-management/resources/leadership-skills</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Institute of Directors: Leadership in the Workplace</a:t>
            </a:r>
          </a:p>
          <a:p>
            <a:pPr algn="l">
              <a:spcAft>
                <a:spcPts val="800"/>
              </a:spcAft>
            </a:pPr>
            <a:r>
              <a:rPr sz="1900" b="0">
                <a:solidFill>
                  <a:srgbClr val="152A3A"/>
                </a:solidFill>
                <a:latin typeface="Aptos"/>
              </a:rPr>
              <a:t>https://www.iod.com/resources/business-advice/leadership-in-the-workplace/</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SOURCES · ACCESSED 2 OCTOBER 2026</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Further reading — continued</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299</a:t>
            </a:r>
          </a:p>
        </p:txBody>
      </p:sp>
      <p:sp>
        <p:nvSpPr>
          <p:cNvPr id="6" name="Rectangle 5"/>
          <p:cNvSpPr/>
          <p:nvPr/>
        </p:nvSpPr>
        <p:spPr>
          <a:xfrm>
            <a:off x="548640"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04</a:t>
            </a:r>
          </a:p>
        </p:txBody>
      </p:sp>
      <p:sp>
        <p:nvSpPr>
          <p:cNvPr id="8" name="TextBox 7"/>
          <p:cNvSpPr txBox="1"/>
          <p:nvPr/>
        </p:nvSpPr>
        <p:spPr>
          <a:xfrm>
            <a:off x="141731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Coursera: Tips for Developing Leadership Skills</a:t>
            </a:r>
          </a:p>
          <a:p>
            <a:pPr algn="l">
              <a:spcAft>
                <a:spcPts val="800"/>
              </a:spcAft>
            </a:pPr>
            <a:r>
              <a:rPr sz="1900" b="0">
                <a:solidFill>
                  <a:srgbClr val="152A3A"/>
                </a:solidFill>
                <a:latin typeface="Aptos"/>
              </a:rPr>
              <a:t>https://www.coursera.org/enterprise/articles/tips-for-developing-leadership-skills</a:t>
            </a:r>
          </a:p>
        </p:txBody>
      </p:sp>
      <p:sp>
        <p:nvSpPr>
          <p:cNvPr id="9" name="Rectangle 8"/>
          <p:cNvSpPr/>
          <p:nvPr/>
        </p:nvSpPr>
        <p:spPr>
          <a:xfrm>
            <a:off x="6240779" y="1920240"/>
            <a:ext cx="537210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09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05</a:t>
            </a:r>
          </a:p>
        </p:txBody>
      </p:sp>
      <p:sp>
        <p:nvSpPr>
          <p:cNvPr id="11" name="TextBox 10"/>
          <p:cNvSpPr txBox="1"/>
          <p:nvPr/>
        </p:nvSpPr>
        <p:spPr>
          <a:xfrm>
            <a:off x="7109459" y="2130552"/>
            <a:ext cx="4293108" cy="3831336"/>
          </a:xfrm>
          <a:prstGeom prst="rect">
            <a:avLst/>
          </a:prstGeom>
          <a:noFill/>
        </p:spPr>
        <p:txBody>
          <a:bodyPr wrap="square" lIns="0" rIns="0" tIns="0">
            <a:spAutoFit/>
          </a:bodyPr>
          <a:lstStyle/>
          <a:p>
            <a:pPr algn="l">
              <a:spcAft>
                <a:spcPts val="800"/>
              </a:spcAft>
            </a:pPr>
            <a:r>
              <a:rPr sz="1900" b="0">
                <a:solidFill>
                  <a:srgbClr val="152A3A"/>
                </a:solidFill>
                <a:latin typeface="Aptos"/>
              </a:rPr>
              <a:t>Coursera: Leadership Skills</a:t>
            </a:r>
          </a:p>
          <a:p>
            <a:pPr algn="l">
              <a:spcAft>
                <a:spcPts val="800"/>
              </a:spcAft>
            </a:pPr>
            <a:r>
              <a:rPr sz="1900" b="0">
                <a:solidFill>
                  <a:srgbClr val="152A3A"/>
                </a:solidFill>
                <a:latin typeface="Aptos"/>
              </a:rPr>
              <a:t>https://www.coursera.org/gb/articles/leadership-skills</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a:spAutoFit/>
          </a:bodyPr>
          <a:lstStyle/>
          <a:p>
            <a:pPr algn="l">
              <a:spcAft>
                <a:spcPts val="800"/>
              </a:spcAft>
            </a:pPr>
            <a:r>
              <a:rPr sz="1100" b="1">
                <a:solidFill>
                  <a:srgbClr val="087F8C"/>
                </a:solidFill>
                <a:latin typeface="Aptos"/>
              </a:rPr>
              <a:t>NEXT STEPS</a:t>
            </a:r>
          </a:p>
        </p:txBody>
      </p:sp>
      <p:sp>
        <p:nvSpPr>
          <p:cNvPr id="3" name="TextBox 2"/>
          <p:cNvSpPr txBox="1"/>
          <p:nvPr/>
        </p:nvSpPr>
        <p:spPr>
          <a:xfrm>
            <a:off x="548640" y="822960"/>
            <a:ext cx="11064240" cy="1005840"/>
          </a:xfrm>
          <a:prstGeom prst="rect">
            <a:avLst/>
          </a:prstGeom>
          <a:noFill/>
        </p:spPr>
        <p:txBody>
          <a:bodyPr wrap="square" lIns="0" rIns="0" tIns="0">
            <a:spAutoFit/>
          </a:bodyPr>
          <a:lstStyle/>
          <a:p>
            <a:pPr algn="l">
              <a:spcAft>
                <a:spcPts val="800"/>
              </a:spcAft>
            </a:pPr>
            <a:r>
              <a:rPr sz="3200" b="1">
                <a:solidFill>
                  <a:srgbClr val="152A3A"/>
                </a:solidFill>
                <a:latin typeface="Aptos"/>
              </a:rPr>
              <a:t>Thank You</a:t>
            </a:r>
          </a:p>
        </p:txBody>
      </p:sp>
      <p:sp>
        <p:nvSpPr>
          <p:cNvPr id="4" name="TextBox 3"/>
          <p:cNvSpPr txBox="1"/>
          <p:nvPr/>
        </p:nvSpPr>
        <p:spPr>
          <a:xfrm>
            <a:off x="548640" y="6510528"/>
            <a:ext cx="8229600" cy="182880"/>
          </a:xfrm>
          <a:prstGeom prst="rect">
            <a:avLst/>
          </a:prstGeom>
          <a:noFill/>
        </p:spPr>
        <p:txBody>
          <a:bodyPr wrap="square" lIns="0" rIns="0" tIns="0">
            <a:spAutoFit/>
          </a:bodyPr>
          <a:lstStyle/>
          <a:p>
            <a:pPr algn="l">
              <a:spcAft>
                <a:spcPts val="800"/>
              </a:spcAft>
            </a:pPr>
            <a:r>
              <a:rPr sz="900" b="0">
                <a:solidFill>
                  <a:srgbClr val="526474"/>
                </a:solidFill>
                <a:latin typeface="Aptos"/>
              </a:rPr>
              <a:t>Leadership Masterclass · C904 · v4.0 | Tertiary Infotech Academy</a:t>
            </a:r>
          </a:p>
        </p:txBody>
      </p:sp>
      <p:sp>
        <p:nvSpPr>
          <p:cNvPr id="5" name="TextBox 4"/>
          <p:cNvSpPr txBox="1"/>
          <p:nvPr/>
        </p:nvSpPr>
        <p:spPr>
          <a:xfrm>
            <a:off x="11064240" y="6492240"/>
            <a:ext cx="548640" cy="228600"/>
          </a:xfrm>
          <a:prstGeom prst="rect">
            <a:avLst/>
          </a:prstGeom>
          <a:noFill/>
        </p:spPr>
        <p:txBody>
          <a:bodyPr wrap="square" lIns="0" rIns="0" tIns="0">
            <a:spAutoFit/>
          </a:bodyPr>
          <a:lstStyle/>
          <a:p>
            <a:pPr algn="r">
              <a:spcAft>
                <a:spcPts val="800"/>
              </a:spcAft>
            </a:pPr>
            <a:r>
              <a:rPr sz="1000" b="0">
                <a:solidFill>
                  <a:srgbClr val="526474"/>
                </a:solidFill>
                <a:latin typeface="Aptos"/>
              </a:rPr>
              <a:t>300</a:t>
            </a:r>
          </a:p>
        </p:txBody>
      </p:sp>
      <p:sp>
        <p:nvSpPr>
          <p:cNvPr id="6" name="Rectangle 5"/>
          <p:cNvSpPr/>
          <p:nvPr/>
        </p:nvSpPr>
        <p:spPr>
          <a:xfrm>
            <a:off x="54864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01</a:t>
            </a:r>
          </a:p>
        </p:txBody>
      </p:sp>
      <p:sp>
        <p:nvSpPr>
          <p:cNvPr id="8" name="TextBox 7"/>
          <p:cNvSpPr txBox="1"/>
          <p:nvPr/>
        </p:nvSpPr>
        <p:spPr>
          <a:xfrm>
            <a:off x="75895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Leadership Masterclass · C904 · v4.0</a:t>
            </a:r>
          </a:p>
        </p:txBody>
      </p:sp>
      <p:sp>
        <p:nvSpPr>
          <p:cNvPr id="9" name="Rectangle 8"/>
          <p:cNvSpPr/>
          <p:nvPr/>
        </p:nvSpPr>
        <p:spPr>
          <a:xfrm>
            <a:off x="434340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02</a:t>
            </a:r>
          </a:p>
        </p:txBody>
      </p:sp>
      <p:sp>
        <p:nvSpPr>
          <p:cNvPr id="11" name="TextBox 10"/>
          <p:cNvSpPr txBox="1"/>
          <p:nvPr/>
        </p:nvSpPr>
        <p:spPr>
          <a:xfrm>
            <a:off x="455371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Continue using the worksheets and ask a colleague for specific feedback on your chosen behaviour.</a:t>
            </a:r>
          </a:p>
        </p:txBody>
      </p:sp>
      <p:sp>
        <p:nvSpPr>
          <p:cNvPr id="12" name="Rectangle 11"/>
          <p:cNvSpPr/>
          <p:nvPr/>
        </p:nvSpPr>
        <p:spPr>
          <a:xfrm>
            <a:off x="8138160" y="1920240"/>
            <a:ext cx="3474720" cy="4251960"/>
          </a:xfrm>
          <a:prstGeom prst="rect">
            <a:avLst/>
          </a:prstGeom>
          <a:solidFill>
            <a:srgbClr val="EF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2057400"/>
            <a:ext cx="502920" cy="548640"/>
          </a:xfrm>
          <a:prstGeom prst="rect">
            <a:avLst/>
          </a:prstGeom>
          <a:noFill/>
        </p:spPr>
        <p:txBody>
          <a:bodyPr wrap="square" lIns="0" rIns="0" tIns="0">
            <a:spAutoFit/>
          </a:bodyPr>
          <a:lstStyle/>
          <a:p>
            <a:pPr algn="l">
              <a:spcAft>
                <a:spcPts val="800"/>
              </a:spcAft>
            </a:pPr>
            <a:r>
              <a:rPr sz="2500" b="1">
                <a:solidFill>
                  <a:srgbClr val="087F8C"/>
                </a:solidFill>
                <a:latin typeface="Aptos"/>
              </a:rPr>
              <a:t>03</a:t>
            </a:r>
          </a:p>
        </p:txBody>
      </p:sp>
      <p:sp>
        <p:nvSpPr>
          <p:cNvPr id="14" name="TextBox 13"/>
          <p:cNvSpPr txBox="1"/>
          <p:nvPr/>
        </p:nvSpPr>
        <p:spPr>
          <a:xfrm>
            <a:off x="8348472" y="2788920"/>
            <a:ext cx="3054096" cy="3246120"/>
          </a:xfrm>
          <a:prstGeom prst="rect">
            <a:avLst/>
          </a:prstGeom>
          <a:noFill/>
        </p:spPr>
        <p:txBody>
          <a:bodyPr wrap="square" lIns="0" rIns="0" tIns="0">
            <a:spAutoFit/>
          </a:bodyPr>
          <a:lstStyle/>
          <a:p>
            <a:pPr algn="l">
              <a:spcAft>
                <a:spcPts val="800"/>
              </a:spcAft>
            </a:pPr>
            <a:r>
              <a:rPr sz="1900" b="0">
                <a:solidFill>
                  <a:srgbClr val="152A3A"/>
                </a:solidFill>
                <a:latin typeface="Aptos"/>
              </a:rPr>
              <a:t>https://www.tertiarycourses.com.sg/leadership-masterclass.html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